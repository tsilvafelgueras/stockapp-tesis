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20040"/>
            <a:ext cx="2011680" cy="256032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</a:rPr>
              <a:t>PUNTO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89920" y="320040"/>
            <a:ext cx="1097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0" i="0">
                <a:solidFill>
                  <a:srgbClr val="6B7280"/>
                </a:solidFill>
              </a:rPr>
              <a:t>01 /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5600" b="1" i="0">
                <a:solidFill>
                  <a:srgbClr val="FFFFFF"/>
                </a:solidFill>
              </a:rPr>
              <a:t>MVP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19456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</a:rPr>
              <a:t>Versión Final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10896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 i="0">
                <a:solidFill>
                  <a:srgbClr val="CCD5E0"/>
                </a:solidFill>
              </a:rPr>
              <a:t>De la hipótesis al producto en producción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3840480"/>
            <a:ext cx="2194560" cy="274320"/>
          </a:xfrm>
          <a:prstGeom prst="rect">
            <a:avLst/>
          </a:prstGeom>
          <a:solidFill>
            <a:srgbClr val="3A50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>
                <a:solidFill>
                  <a:srgbClr val="FFFFFF"/>
                </a:solidFill>
              </a:rPr>
              <a:t>14 etapas completadas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3840480"/>
            <a:ext cx="2194560" cy="274320"/>
          </a:xfrm>
          <a:prstGeom prst="rect">
            <a:avLst/>
          </a:prstGeom>
          <a:solidFill>
            <a:srgbClr val="3A50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>
                <a:solidFill>
                  <a:srgbClr val="FFFFFF"/>
                </a:solidFill>
              </a:rPr>
              <a:t>11 migraciones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0" y="3840480"/>
            <a:ext cx="2194560" cy="274320"/>
          </a:xfrm>
          <a:prstGeom prst="rect">
            <a:avLst/>
          </a:prstGeom>
          <a:solidFill>
            <a:srgbClr val="3A50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>
                <a:solidFill>
                  <a:srgbClr val="FFFFFF"/>
                </a:solidFill>
              </a:rPr>
              <a:t>4 roles de usuario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0" y="3840480"/>
            <a:ext cx="2743200" cy="27432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>
                <a:solidFill>
                  <a:srgbClr val="FFFFFF"/>
                </a:solidFill>
              </a:rPr>
              <a:t>En producción · Vercel + Supabase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182880"/>
            <a:ext cx="2011680" cy="256032"/>
          </a:xfrm>
          <a:prstGeom prst="rect">
            <a:avLst/>
          </a:prstGeom>
          <a:solidFill>
            <a:srgbClr val="FFF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97316"/>
                </a:solidFill>
              </a:rPr>
              <a:t>PUNTO 1 — METODOLOGÍA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89920" y="182880"/>
            <a:ext cx="1097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0" i="0">
                <a:solidFill>
                  <a:srgbClr val="6B7280"/>
                </a:solidFill>
              </a:rPr>
              <a:t>02 /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9144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 i="0">
                <a:solidFill>
                  <a:srgbClr val="1E3A5F"/>
                </a:solidFill>
              </a:rPr>
              <a:t>Desarrollo iterativo en 14 etapas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51560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</a:rPr>
              <a:t>Cada etapa entregó funcionalidad completa y usable. Las marcadas con ⭐ se detallan a continuación.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1554480"/>
            <a:ext cx="548640" cy="5486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FFFFFF"/>
                </a:solidFill>
              </a:rPr>
              <a:t>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148840"/>
            <a:ext cx="1371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 i="0">
                <a:solidFill>
                  <a:srgbClr val="1E3A5F"/>
                </a:solidFill>
              </a:rPr>
              <a:t>Bootstrap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37744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50" b="0" i="0">
                <a:solidFill>
                  <a:srgbClr val="6B7280"/>
                </a:solidFill>
              </a:rPr>
              <a:t>Next.js · Supabase · Tailwind</a:t>
            </a:r>
          </a:p>
        </p:txBody>
      </p:sp>
      <p:sp>
        <p:nvSpPr>
          <p:cNvPr id="9" name="Rectangle 8"/>
          <p:cNvSpPr/>
          <p:nvPr/>
        </p:nvSpPr>
        <p:spPr>
          <a:xfrm>
            <a:off x="2377440" y="1554480"/>
            <a:ext cx="548640" cy="5486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11680" y="2148840"/>
            <a:ext cx="1371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 i="0">
                <a:solidFill>
                  <a:srgbClr val="1E3A5F"/>
                </a:solidFill>
              </a:rPr>
              <a:t>Auth + DB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11680" y="237744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50" b="0" i="0">
                <a:solidFill>
                  <a:srgbClr val="6B7280"/>
                </a:solidFill>
              </a:rPr>
              <a:t>Roles · RLS · Multi-tenant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931920" y="1554480"/>
            <a:ext cx="548640" cy="5486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6160" y="2148840"/>
            <a:ext cx="1371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 i="0">
                <a:solidFill>
                  <a:srgbClr val="1E3A5F"/>
                </a:solidFill>
              </a:rPr>
              <a:t>Ingresos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6160" y="237744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50" b="0" i="0">
                <a:solidFill>
                  <a:srgbClr val="6B7280"/>
                </a:solidFill>
              </a:rPr>
              <a:t>Carga manual de rollos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0" y="1554480"/>
            <a:ext cx="548640" cy="54864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FFFFFF"/>
                </a:solidFill>
              </a:rPr>
              <a:t>3 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20640" y="2148840"/>
            <a:ext cx="1371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 i="0">
                <a:solidFill>
                  <a:srgbClr val="1E3A5F"/>
                </a:solidFill>
              </a:rPr>
              <a:t>IA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20640" y="237744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50" b="0" i="0">
                <a:solidFill>
                  <a:srgbClr val="6B7280"/>
                </a:solidFill>
              </a:rPr>
              <a:t>Extracción de planillas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040880" y="1554480"/>
            <a:ext cx="548640" cy="54864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FFFFFF"/>
                </a:solidFill>
              </a:rPr>
              <a:t>4 ⭐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75120" y="2148840"/>
            <a:ext cx="1371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 i="0">
                <a:solidFill>
                  <a:srgbClr val="1E3A5F"/>
                </a:solidFill>
              </a:rPr>
              <a:t>QR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75120" y="237744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50" b="0" i="0">
                <a:solidFill>
                  <a:srgbClr val="6B7280"/>
                </a:solidFill>
              </a:rPr>
              <a:t>Scanner + confirmación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595360" y="1554480"/>
            <a:ext cx="548640" cy="5486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0" y="2148840"/>
            <a:ext cx="1371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 i="0">
                <a:solidFill>
                  <a:srgbClr val="1E3A5F"/>
                </a:solidFill>
              </a:rPr>
              <a:t>Stock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0" y="237744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50" b="0" i="0">
                <a:solidFill>
                  <a:srgbClr val="6B7280"/>
                </a:solidFill>
              </a:rPr>
              <a:t>Filtros · Ubicaciones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0149840" y="1554480"/>
            <a:ext cx="548640" cy="54864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FFFFFF"/>
                </a:solidFill>
              </a:rPr>
              <a:t>6 ⭐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784080" y="2148840"/>
            <a:ext cx="1371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 i="0">
                <a:solidFill>
                  <a:srgbClr val="1E3A5F"/>
                </a:solidFill>
              </a:rPr>
              <a:t>Pedidos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784080" y="237744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50" b="0" i="0">
                <a:solidFill>
                  <a:srgbClr val="6B7280"/>
                </a:solidFill>
              </a:rPr>
              <a:t>Ventas · Picking · Entrega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22960" y="3017520"/>
            <a:ext cx="548640" cy="5486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FFFFFF"/>
                </a:solidFill>
              </a:rPr>
              <a:t>7A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3611880"/>
            <a:ext cx="1371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 i="0">
                <a:solidFill>
                  <a:srgbClr val="1E3A5F"/>
                </a:solidFill>
              </a:rPr>
              <a:t>Muestras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384048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50" b="0" i="0">
                <a:solidFill>
                  <a:srgbClr val="6B7280"/>
                </a:solidFill>
              </a:rPr>
              <a:t>Descuento de kilos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377440" y="3017520"/>
            <a:ext cx="548640" cy="5486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FFFFFF"/>
                </a:solidFill>
              </a:rPr>
              <a:t>7B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011680" y="3611880"/>
            <a:ext cx="1371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 i="0">
                <a:solidFill>
                  <a:srgbClr val="1E3A5F"/>
                </a:solidFill>
              </a:rPr>
              <a:t>Reportes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011680" y="384048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50" b="0" i="0">
                <a:solidFill>
                  <a:srgbClr val="6B7280"/>
                </a:solidFill>
              </a:rPr>
              <a:t>Análisis + CSV export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931920" y="3017520"/>
            <a:ext cx="548640" cy="5486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FFFFFF"/>
                </a:solidFill>
              </a:rPr>
              <a:t>7C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566160" y="3611880"/>
            <a:ext cx="1371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 i="0">
                <a:solidFill>
                  <a:srgbClr val="1E3A5F"/>
                </a:solidFill>
              </a:rPr>
              <a:t>UX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566160" y="384048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50" b="0" i="0">
                <a:solidFill>
                  <a:srgbClr val="6B7280"/>
                </a:solidFill>
              </a:rPr>
              <a:t>Mobile-first · Toasts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486400" y="3017520"/>
            <a:ext cx="548640" cy="5486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FFFFFF"/>
                </a:solidFill>
              </a:rPr>
              <a:t>7D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120640" y="3611880"/>
            <a:ext cx="1371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 i="0">
                <a:solidFill>
                  <a:srgbClr val="1E3A5F"/>
                </a:solidFill>
              </a:rPr>
              <a:t>Polish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120640" y="384048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50" b="0" i="0">
                <a:solidFill>
                  <a:srgbClr val="6B7280"/>
                </a:solidFill>
              </a:rPr>
              <a:t>Seguridad · Contraseña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583680" y="3108960"/>
            <a:ext cx="4480559" cy="36576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</a:rPr>
              <a:t>Iteración final ⭐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83680" y="3520440"/>
            <a:ext cx="448055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0" i="0">
                <a:solidFill>
                  <a:srgbClr val="6B7280"/>
                </a:solidFill>
              </a:rPr>
              <a:t>9 bugs · 9 features — Feedback real del cliente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182880"/>
            <a:ext cx="2011680" cy="256032"/>
          </a:xfrm>
          <a:prstGeom prst="rect">
            <a:avLst/>
          </a:prstGeom>
          <a:solidFill>
            <a:srgbClr val="FFF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97316"/>
                </a:solidFill>
              </a:rPr>
              <a:t>PUNTO 1 — ETAPA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89920" y="182880"/>
            <a:ext cx="1097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0" i="0">
                <a:solidFill>
                  <a:srgbClr val="6B7280"/>
                </a:solidFill>
              </a:rPr>
              <a:t>03 /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9144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 i="0">
                <a:solidFill>
                  <a:srgbClr val="1E3A5F"/>
                </a:solidFill>
              </a:rPr>
              <a:t>🧠 Extracción con 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5303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 b="1" i="0">
                <a:solidFill>
                  <a:srgbClr val="6B7280"/>
                </a:solidFill>
              </a:rPr>
              <a:t>OBJETIVO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53035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50" b="0" i="0">
                <a:solidFill>
                  <a:srgbClr val="111827"/>
                </a:solidFill>
              </a:rPr>
              <a:t>Eliminar la carga manual de planillas de tintorería. El operario saca una foto o sube el PDF y el sistema extrae los rollos automáticamente.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965960"/>
            <a:ext cx="5303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 b="1" i="0">
                <a:solidFill>
                  <a:srgbClr val="6B7280"/>
                </a:solidFill>
              </a:rPr>
              <a:t>HERRAMIENTAS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176272"/>
            <a:ext cx="1737360" cy="256032"/>
          </a:xfrm>
          <a:prstGeom prst="rect">
            <a:avLst/>
          </a:prstGeom>
          <a:solidFill>
            <a:srgbClr val="FFF7ED"/>
          </a:solidFill>
          <a:ln w="1270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>
                <a:solidFill>
                  <a:srgbClr val="F97316"/>
                </a:solidFill>
              </a:rPr>
              <a:t>Google Gemini 2.5 Flash</a:t>
            </a:r>
          </a:p>
        </p:txBody>
      </p:sp>
      <p:sp>
        <p:nvSpPr>
          <p:cNvPr id="9" name="Rectangle 8"/>
          <p:cNvSpPr/>
          <p:nvPr/>
        </p:nvSpPr>
        <p:spPr>
          <a:xfrm>
            <a:off x="2286000" y="2176272"/>
            <a:ext cx="1737360" cy="256032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>
                <a:solidFill>
                  <a:srgbClr val="6B7280"/>
                </a:solidFill>
              </a:rPr>
              <a:t>@google/genai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0" y="2176272"/>
            <a:ext cx="1737360" cy="256032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>
                <a:solidFill>
                  <a:srgbClr val="6B7280"/>
                </a:solidFill>
              </a:rPr>
              <a:t>Server Actions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606040"/>
            <a:ext cx="5303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 b="1" i="0">
                <a:solidFill>
                  <a:srgbClr val="6B7280"/>
                </a:solidFill>
              </a:rPr>
              <a:t>FUNCIONALIDADES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816352"/>
            <a:ext cx="530352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300"/>
              </a:spcBef>
            </a:pPr>
            <a:r>
              <a:rPr sz="900">
                <a:solidFill>
                  <a:srgbClr val="111827"/>
                </a:solidFill>
              </a:rPr>
              <a:t>→  Foto o PDF → extracción automática de rollos, metros y kilos</a:t>
            </a:r>
          </a:p>
          <a:p>
            <a:pPr>
              <a:spcBef>
                <a:spcPts val="300"/>
              </a:spcBef>
            </a:pPr>
            <a:r>
              <a:rPr sz="900">
                <a:solidFill>
                  <a:srgbClr val="111827"/>
                </a:solidFill>
              </a:rPr>
              <a:t>→  Configuración por tintorería — prompt customizado por proveedor</a:t>
            </a:r>
          </a:p>
          <a:p>
            <a:pPr>
              <a:spcBef>
                <a:spcPts val="300"/>
              </a:spcBef>
            </a:pPr>
            <a:r>
              <a:rPr sz="900">
                <a:solidFill>
                  <a:srgbClr val="111827"/>
                </a:solidFill>
              </a:rPr>
              <a:t>→  Revisión y edición antes de confirmar el lote</a:t>
            </a:r>
          </a:p>
          <a:p>
            <a:pPr>
              <a:spcBef>
                <a:spcPts val="300"/>
              </a:spcBef>
            </a:pPr>
            <a:r>
              <a:rPr sz="900">
                <a:solidFill>
                  <a:srgbClr val="111827"/>
                </a:solidFill>
              </a:rPr>
              <a:t>→  Timeout de 30s + mensaje claro si la IA no puede interpretar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1188720"/>
            <a:ext cx="5486400" cy="868680"/>
          </a:xfrm>
          <a:prstGeom prst="rect">
            <a:avLst/>
          </a:prstGeom>
          <a:solidFill>
            <a:srgbClr val="F0FDF4"/>
          </a:solidFill>
          <a:ln w="12700">
            <a:solidFill>
              <a:srgbClr val="86EF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100"/>
              </a:spcBef>
            </a:pPr>
            <a:r>
              <a:rPr sz="900" b="1">
                <a:solidFill>
                  <a:srgbClr val="16A34A"/>
                </a:solidFill>
              </a:rPr>
              <a:t>RESULTADO</a:t>
            </a:r>
          </a:p>
          <a:p>
            <a:pPr>
              <a:spcBef>
                <a:spcPts val="100"/>
              </a:spcBef>
            </a:pPr>
            <a:r>
              <a:rPr sz="900" b="0">
                <a:solidFill>
                  <a:srgbClr val="111827"/>
                </a:solidFill>
              </a:rPr>
              <a:t>Precisión &gt;90% en planillas reales de Muter Textil. El operario corrige excepciones, no transcribe manualmente.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7920" y="2148840"/>
            <a:ext cx="5486400" cy="868680"/>
          </a:xfrm>
          <a:prstGeom prst="rect">
            <a:avLst/>
          </a:prstGeom>
          <a:solidFill>
            <a:srgbClr val="EFF6FF"/>
          </a:solidFill>
          <a:ln w="12700">
            <a:solidFill>
              <a:srgbClr val="93C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100"/>
              </a:spcBef>
            </a:pPr>
            <a:r>
              <a:rPr sz="900" b="1">
                <a:solidFill>
                  <a:srgbClr val="1D4ED8"/>
                </a:solidFill>
              </a:rPr>
              <a:t>APRENDIZAJE</a:t>
            </a:r>
          </a:p>
          <a:p>
            <a:pPr>
              <a:spcBef>
                <a:spcPts val="100"/>
              </a:spcBef>
            </a:pPr>
            <a:r>
              <a:rPr sz="900" b="0">
                <a:solidFill>
                  <a:srgbClr val="111827"/>
                </a:solidFill>
              </a:rPr>
              <a:t>Un prompt específico por tintorería supera ampliamente al genérico. La IA necesita contexto del formato del proveedor.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17920" y="3108960"/>
            <a:ext cx="5486400" cy="1005840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100"/>
              </a:spcBef>
            </a:pPr>
            <a:r>
              <a:rPr sz="900" b="1">
                <a:solidFill>
                  <a:srgbClr val="1E3A5F"/>
                </a:solidFill>
              </a:rPr>
              <a:t>📋  Flujo completo</a:t>
            </a:r>
          </a:p>
          <a:p>
            <a:pPr>
              <a:spcBef>
                <a:spcPts val="100"/>
              </a:spcBef>
            </a:pPr>
            <a:r>
              <a:rPr sz="900" b="0">
                <a:solidFill>
                  <a:srgbClr val="6B7280"/>
                </a:solidFill>
              </a:rPr>
              <a:t>Subir imagen/PDF → Gemini extrae → tabla editable → confirmación → rollos en sistema con QR asignado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182880"/>
            <a:ext cx="2011680" cy="256032"/>
          </a:xfrm>
          <a:prstGeom prst="rect">
            <a:avLst/>
          </a:prstGeom>
          <a:solidFill>
            <a:srgbClr val="FFF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97316"/>
                </a:solidFill>
              </a:rPr>
              <a:t>PUNTO 1 — ETAPA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89920" y="182880"/>
            <a:ext cx="1097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0" i="0">
                <a:solidFill>
                  <a:srgbClr val="6B7280"/>
                </a:solidFill>
              </a:rPr>
              <a:t>04 /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9144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 i="0">
                <a:solidFill>
                  <a:srgbClr val="1E3A5F"/>
                </a:solidFill>
              </a:rPr>
              <a:t>📱 Scanner QR/Barcode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5303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 b="1" i="0">
                <a:solidFill>
                  <a:srgbClr val="6B7280"/>
                </a:solidFill>
              </a:rPr>
              <a:t>OBJETIVO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53035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50" b="0" i="0">
                <a:solidFill>
                  <a:srgbClr val="111827"/>
                </a:solidFill>
              </a:rPr>
              <a:t>Cerrar la brecha entre lo físico y lo digital. Cada rollo tiene QR; el sistema no da por ingresado ningún rollo que no fue escaneado.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965960"/>
            <a:ext cx="5303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 b="1" i="0">
                <a:solidFill>
                  <a:srgbClr val="6B7280"/>
                </a:solidFill>
              </a:rPr>
              <a:t>HERRAMIENTAS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176272"/>
            <a:ext cx="1737360" cy="256032"/>
          </a:xfrm>
          <a:prstGeom prst="rect">
            <a:avLst/>
          </a:prstGeom>
          <a:solidFill>
            <a:srgbClr val="FFF7ED"/>
          </a:solidFill>
          <a:ln w="1270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>
                <a:solidFill>
                  <a:srgbClr val="F97316"/>
                </a:solidFill>
              </a:rPr>
              <a:t>@zxing/browser</a:t>
            </a:r>
          </a:p>
        </p:txBody>
      </p:sp>
      <p:sp>
        <p:nvSpPr>
          <p:cNvPr id="9" name="Rectangle 8"/>
          <p:cNvSpPr/>
          <p:nvPr/>
        </p:nvSpPr>
        <p:spPr>
          <a:xfrm>
            <a:off x="2286000" y="2176272"/>
            <a:ext cx="1737360" cy="256032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>
                <a:solidFill>
                  <a:srgbClr val="6B7280"/>
                </a:solidFill>
              </a:rPr>
              <a:t>Web Camera API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0" y="2176272"/>
            <a:ext cx="1737360" cy="256032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>
                <a:solidFill>
                  <a:srgbClr val="6B7280"/>
                </a:solidFill>
              </a:rPr>
              <a:t>PWA mobile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606040"/>
            <a:ext cx="5303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 b="1" i="0">
                <a:solidFill>
                  <a:srgbClr val="6B7280"/>
                </a:solidFill>
              </a:rPr>
              <a:t>FUNCIONALIDADES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816352"/>
            <a:ext cx="530352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300"/>
              </a:spcBef>
            </a:pPr>
            <a:r>
              <a:rPr sz="900">
                <a:solidFill>
                  <a:srgbClr val="111827"/>
                </a:solidFill>
              </a:rPr>
              <a:t>→  Flujo "Aduana" — confirmación obligatoria rollo por rollo</a:t>
            </a:r>
          </a:p>
          <a:p>
            <a:pPr>
              <a:spcBef>
                <a:spcPts val="300"/>
              </a:spcBef>
            </a:pPr>
            <a:r>
              <a:rPr sz="900">
                <a:solidFill>
                  <a:srgbClr val="111827"/>
                </a:solidFill>
              </a:rPr>
              <a:t>→  Asignación de ubicación física al confirmar (A-1 a F-6)</a:t>
            </a:r>
          </a:p>
          <a:p>
            <a:pPr>
              <a:spcBef>
                <a:spcPts val="300"/>
              </a:spcBef>
            </a:pPr>
            <a:r>
              <a:rPr sz="900">
                <a:solidFill>
                  <a:srgbClr val="111827"/>
                </a:solidFill>
              </a:rPr>
              <a:t>→  Fallback de ingreso manual si la cámara no está disponible</a:t>
            </a:r>
          </a:p>
          <a:p>
            <a:pPr>
              <a:spcBef>
                <a:spcPts val="300"/>
              </a:spcBef>
            </a:pPr>
            <a:r>
              <a:rPr sz="900">
                <a:solidFill>
                  <a:srgbClr val="111827"/>
                </a:solidFill>
              </a:rPr>
              <a:t>→  Scanner reutilizado en picking — mismo flujo para despachar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1188720"/>
            <a:ext cx="5486400" cy="868680"/>
          </a:xfrm>
          <a:prstGeom prst="rect">
            <a:avLst/>
          </a:prstGeom>
          <a:solidFill>
            <a:srgbClr val="F0FDF4"/>
          </a:solidFill>
          <a:ln w="12700">
            <a:solidFill>
              <a:srgbClr val="86EF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100"/>
              </a:spcBef>
            </a:pPr>
            <a:r>
              <a:rPr sz="900" b="1">
                <a:solidFill>
                  <a:srgbClr val="16A34A"/>
                </a:solidFill>
              </a:rPr>
              <a:t>RESULTADO</a:t>
            </a:r>
          </a:p>
          <a:p>
            <a:pPr>
              <a:spcBef>
                <a:spcPts val="100"/>
              </a:spcBef>
            </a:pPr>
            <a:r>
              <a:rPr sz="900" b="0">
                <a:solidFill>
                  <a:srgbClr val="111827"/>
                </a:solidFill>
              </a:rPr>
              <a:t>0 rollos 'fantasma' post-confirmación. Si no se escaneó, no está en stock.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7920" y="2148840"/>
            <a:ext cx="5486400" cy="868680"/>
          </a:xfrm>
          <a:prstGeom prst="rect">
            <a:avLst/>
          </a:prstGeom>
          <a:solidFill>
            <a:srgbClr val="EFF6FF"/>
          </a:solidFill>
          <a:ln w="12700">
            <a:solidFill>
              <a:srgbClr val="93C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100"/>
              </a:spcBef>
            </a:pPr>
            <a:r>
              <a:rPr sz="900" b="1">
                <a:solidFill>
                  <a:srgbClr val="1D4ED8"/>
                </a:solidFill>
              </a:rPr>
              <a:t>APRENDIZAJE</a:t>
            </a:r>
          </a:p>
          <a:p>
            <a:pPr>
              <a:spcBef>
                <a:spcPts val="100"/>
              </a:spcBef>
            </a:pPr>
            <a:r>
              <a:rPr sz="900" b="0">
                <a:solidFill>
                  <a:srgbClr val="111827"/>
                </a:solidFill>
              </a:rPr>
              <a:t>Hacer el paso obligatorio (no salteable) cambió el comportamiento del operario. La UX de 'sin atajos' es una feature.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17920" y="3108960"/>
            <a:ext cx="5486400" cy="1005840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100"/>
              </a:spcBef>
            </a:pPr>
            <a:r>
              <a:rPr sz="900" b="1">
                <a:solidFill>
                  <a:srgbClr val="1E3A5F"/>
                </a:solidFill>
              </a:rPr>
              <a:t>🔄  Estado del rollo</a:t>
            </a:r>
          </a:p>
          <a:p>
            <a:pPr>
              <a:spcBef>
                <a:spcPts val="100"/>
              </a:spcBef>
            </a:pPr>
            <a:r>
              <a:rPr sz="900" b="0">
                <a:solidFill>
                  <a:srgbClr val="1E3A5F"/>
                </a:solidFill>
              </a:rPr>
              <a:t>pendiente → en_stock → reservado → entregado</a:t>
            </a:r>
          </a:p>
          <a:p>
            <a:pPr>
              <a:spcBef>
                <a:spcPts val="100"/>
              </a:spcBef>
            </a:pPr>
            <a:r>
              <a:rPr sz="900" b="0">
                <a:solidFill>
                  <a:srgbClr val="6B7280"/>
                </a:solidFill>
              </a:rPr>
              <a:t>Cada transición requiere acción explícita con el scanner.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182880"/>
            <a:ext cx="2011680" cy="256032"/>
          </a:xfrm>
          <a:prstGeom prst="rect">
            <a:avLst/>
          </a:prstGeom>
          <a:solidFill>
            <a:srgbClr val="FFF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97316"/>
                </a:solidFill>
              </a:rPr>
              <a:t>PUNTO 1 — ETAPAS 5, 6 Y 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89920" y="182880"/>
            <a:ext cx="1097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0" i="0">
                <a:solidFill>
                  <a:srgbClr val="6B7280"/>
                </a:solidFill>
              </a:rPr>
              <a:t>05 /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10058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 i="0">
                <a:solidFill>
                  <a:srgbClr val="1E3A5F"/>
                </a:solidFill>
              </a:rPr>
              <a:t>📦 Stock, Pedidos y Polish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188720"/>
            <a:ext cx="3749039" cy="1188720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100"/>
              </a:spcBef>
            </a:pPr>
            <a:r>
              <a:rPr sz="900" b="1">
                <a:solidFill>
                  <a:srgbClr val="1E3A5F"/>
                </a:solidFill>
              </a:rPr>
              <a:t>🔍  Vista de Stock</a:t>
            </a:r>
          </a:p>
          <a:p>
            <a:pPr>
              <a:spcBef>
                <a:spcPts val="100"/>
              </a:spcBef>
            </a:pPr>
            <a:r>
              <a:rPr sz="900" b="0">
                <a:solidFill>
                  <a:srgbClr val="6B7280"/>
                </a:solidFill>
              </a:rPr>
              <a:t>Filtros por artículo · color · tintorería · ubicación. Vista rollo por rollo con peso y metros. Accesible para los 4 roles.</a:t>
            </a:r>
          </a:p>
        </p:txBody>
      </p:sp>
      <p:sp>
        <p:nvSpPr>
          <p:cNvPr id="6" name="Rectangle 5"/>
          <p:cNvSpPr/>
          <p:nvPr/>
        </p:nvSpPr>
        <p:spPr>
          <a:xfrm>
            <a:off x="4279391" y="1188720"/>
            <a:ext cx="3749039" cy="1188720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100"/>
              </a:spcBef>
            </a:pPr>
            <a:r>
              <a:rPr sz="900" b="1">
                <a:solidFill>
                  <a:srgbClr val="1E3A5F"/>
                </a:solidFill>
              </a:rPr>
              <a:t>🛒  Ciclo de Pedidos</a:t>
            </a:r>
          </a:p>
          <a:p>
            <a:pPr>
              <a:spcBef>
                <a:spcPts val="100"/>
              </a:spcBef>
            </a:pPr>
            <a:r>
              <a:rPr sz="900" b="0">
                <a:solidFill>
                  <a:srgbClr val="6B7280"/>
                </a:solidFill>
              </a:rPr>
              <a:t>Ventas crea y reserva rollos · operario hace picking con scanner · admin confirma entrega o cancela con devolución de stock.</a:t>
            </a:r>
          </a:p>
        </p:txBody>
      </p:sp>
      <p:sp>
        <p:nvSpPr>
          <p:cNvPr id="7" name="Rectangle 6"/>
          <p:cNvSpPr/>
          <p:nvPr/>
        </p:nvSpPr>
        <p:spPr>
          <a:xfrm>
            <a:off x="8193022" y="1188720"/>
            <a:ext cx="3749039" cy="1188720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100"/>
              </a:spcBef>
            </a:pPr>
            <a:r>
              <a:rPr sz="900" b="1">
                <a:solidFill>
                  <a:srgbClr val="1E3A5F"/>
                </a:solidFill>
              </a:rPr>
              <a:t>🧵  Muestras</a:t>
            </a:r>
          </a:p>
          <a:p>
            <a:pPr>
              <a:spcBef>
                <a:spcPts val="100"/>
              </a:spcBef>
            </a:pPr>
            <a:r>
              <a:rPr sz="900" b="0">
                <a:solidFill>
                  <a:srgbClr val="6B7280"/>
                </a:solidFill>
              </a:rPr>
              <a:t>Registro con descuento automático de kilos del rollo. Trazabilidad: qué se mandó como muestra y cuándo.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2514600"/>
            <a:ext cx="3749039" cy="1188720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100"/>
              </a:spcBef>
            </a:pPr>
            <a:r>
              <a:rPr sz="900" b="1">
                <a:solidFill>
                  <a:srgbClr val="1E3A5F"/>
                </a:solidFill>
              </a:rPr>
              <a:t>📈  Reportes (admin)</a:t>
            </a:r>
          </a:p>
          <a:p>
            <a:pPr>
              <a:spcBef>
                <a:spcPts val="100"/>
              </a:spcBef>
            </a:pPr>
            <a:r>
              <a:rPr sz="900" b="0">
                <a:solidFill>
                  <a:srgbClr val="6B7280"/>
                </a:solidFill>
              </a:rPr>
              <a:t>Stock por artículo, movimientos del mes, diferencias, antigüedad de crudo. Export a CSV.</a:t>
            </a:r>
          </a:p>
        </p:txBody>
      </p:sp>
      <p:sp>
        <p:nvSpPr>
          <p:cNvPr id="9" name="Rectangle 8"/>
          <p:cNvSpPr/>
          <p:nvPr/>
        </p:nvSpPr>
        <p:spPr>
          <a:xfrm>
            <a:off x="4279391" y="2514600"/>
            <a:ext cx="3749039" cy="1188720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100"/>
              </a:spcBef>
            </a:pPr>
            <a:r>
              <a:rPr sz="900" b="1">
                <a:solidFill>
                  <a:srgbClr val="1E3A5F"/>
                </a:solidFill>
              </a:rPr>
              <a:t>📱  UX Mobile-First</a:t>
            </a:r>
          </a:p>
          <a:p>
            <a:pPr>
              <a:spcBef>
                <a:spcPts val="100"/>
              </a:spcBef>
            </a:pPr>
            <a:r>
              <a:rPr sz="900" b="0">
                <a:solidFill>
                  <a:srgbClr val="6B7280"/>
                </a:solidFill>
              </a:rPr>
              <a:t>Touch targets 44px, optimizado para el depósito. Toasts (Sonner). Recuperación de contraseña.</a:t>
            </a:r>
          </a:p>
        </p:txBody>
      </p:sp>
      <p:sp>
        <p:nvSpPr>
          <p:cNvPr id="10" name="Rectangle 9"/>
          <p:cNvSpPr/>
          <p:nvPr/>
        </p:nvSpPr>
        <p:spPr>
          <a:xfrm>
            <a:off x="8193022" y="2514600"/>
            <a:ext cx="3749039" cy="1188720"/>
          </a:xfrm>
          <a:prstGeom prst="rect">
            <a:avLst/>
          </a:prstGeom>
          <a:solidFill>
            <a:srgbClr val="FFF7ED"/>
          </a:solidFill>
          <a:ln w="1270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100"/>
              </a:spcBef>
            </a:pPr>
            <a:r>
              <a:rPr sz="900" b="1">
                <a:solidFill>
                  <a:srgbClr val="1E3A5F"/>
                </a:solidFill>
              </a:rPr>
              <a:t>👥  4 roles · RLS por empresa</a:t>
            </a:r>
          </a:p>
          <a:p>
            <a:pPr>
              <a:spcBef>
                <a:spcPts val="100"/>
              </a:spcBef>
            </a:pPr>
            <a:r>
              <a:rPr sz="900" b="0">
                <a:solidFill>
                  <a:srgbClr val="6B7280"/>
                </a:solidFill>
              </a:rPr>
              <a:t>operario · ventas · admin · super — permisos enforceados a nivel base de datos.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5440680"/>
            <a:ext cx="5577840" cy="731520"/>
          </a:xfrm>
          <a:prstGeom prst="rect">
            <a:avLst/>
          </a:prstGeom>
          <a:solidFill>
            <a:srgbClr val="F0FDF4"/>
          </a:solidFill>
          <a:ln w="12700">
            <a:solidFill>
              <a:srgbClr val="86EF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100"/>
              </a:spcBef>
            </a:pPr>
            <a:r>
              <a:rPr sz="900" b="1">
                <a:solidFill>
                  <a:srgbClr val="16A34A"/>
                </a:solidFill>
              </a:rPr>
              <a:t>RESULTADO</a:t>
            </a:r>
          </a:p>
          <a:p>
            <a:pPr>
              <a:spcBef>
                <a:spcPts val="100"/>
              </a:spcBef>
            </a:pPr>
            <a:r>
              <a:rPr sz="900" b="0">
                <a:solidFill>
                  <a:srgbClr val="111827"/>
                </a:solidFill>
              </a:rPr>
              <a:t>Ciclo completo del ingreso a la entrega sin papel, sin WhatsApp, sin Excel. Admin con visibilidad real en tiempo real.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26480" y="5440680"/>
            <a:ext cx="5577840" cy="731520"/>
          </a:xfrm>
          <a:prstGeom prst="rect">
            <a:avLst/>
          </a:prstGeom>
          <a:solidFill>
            <a:srgbClr val="EFF6FF"/>
          </a:solidFill>
          <a:ln w="12700">
            <a:solidFill>
              <a:srgbClr val="93C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100"/>
              </a:spcBef>
            </a:pPr>
            <a:r>
              <a:rPr sz="900" b="1">
                <a:solidFill>
                  <a:srgbClr val="1D4ED8"/>
                </a:solidFill>
              </a:rPr>
              <a:t>APRENDIZAJE</a:t>
            </a:r>
          </a:p>
          <a:p>
            <a:pPr>
              <a:spcBef>
                <a:spcPts val="100"/>
              </a:spcBef>
            </a:pPr>
            <a:r>
              <a:rPr sz="900" b="0">
                <a:solidFill>
                  <a:srgbClr val="111827"/>
                </a:solidFill>
              </a:rPr>
              <a:t>Las RPCs en Supabase son más seguras que la lógica en cliente. El UX polish define si el producto 'se usa' o solo 'funciona'.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182880"/>
            <a:ext cx="2011680" cy="256032"/>
          </a:xfrm>
          <a:prstGeom prst="rect">
            <a:avLst/>
          </a:prstGeom>
          <a:solidFill>
            <a:srgbClr val="FFF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97316"/>
                </a:solidFill>
              </a:rPr>
              <a:t>PUNTO 1 — ITERACIÓN FINAL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89920" y="182880"/>
            <a:ext cx="1097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0" i="0">
                <a:solidFill>
                  <a:srgbClr val="6B7280"/>
                </a:solidFill>
              </a:rPr>
              <a:t>06 /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10058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 i="0">
                <a:solidFill>
                  <a:srgbClr val="1E3A5F"/>
                </a:solidFill>
              </a:rPr>
              <a:t>🔧 Iteración de correcciones y features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78992"/>
            <a:ext cx="10058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</a:rPr>
              <a:t>Tras el primer uso real con Muter: 9 bugs resueltos + 9 features nuevas pedidas por el cliente.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508760"/>
            <a:ext cx="5486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 b="1" i="0">
                <a:solidFill>
                  <a:srgbClr val="6B7280"/>
                </a:solidFill>
              </a:rPr>
              <a:t>BUGS CRÍTICOS RESUELTOS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737360"/>
            <a:ext cx="54864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300"/>
              </a:spcBef>
            </a:pPr>
            <a:r>
              <a:rPr sz="900">
                <a:solidFill>
                  <a:srgbClr val="111827"/>
                </a:solidFill>
              </a:rPr>
              <a:t>→  Timeout de 30s en IA — antes carga infinita con archivos inválidos</a:t>
            </a:r>
          </a:p>
          <a:p>
            <a:pPr>
              <a:spcBef>
                <a:spcPts val="300"/>
              </a:spcBef>
            </a:pPr>
            <a:r>
              <a:rPr sz="900">
                <a:solidFill>
                  <a:srgbClr val="111827"/>
                </a:solidFill>
              </a:rPr>
              <a:t>→  Permisos: operario ya no puede agregar tintorerías</a:t>
            </a:r>
          </a:p>
          <a:p>
            <a:pPr>
              <a:spcBef>
                <a:spcPts val="300"/>
              </a:spcBef>
            </a:pPr>
            <a:r>
              <a:rPr sz="900">
                <a:solidFill>
                  <a:srgbClr val="111827"/>
                </a:solidFill>
              </a:rPr>
              <a:t>→  Reportes con etiquetas en español (antes rollos.created)</a:t>
            </a:r>
          </a:p>
          <a:p>
            <a:pPr>
              <a:spcBef>
                <a:spcPts val="300"/>
              </a:spcBef>
            </a:pPr>
            <a:r>
              <a:rPr sz="900">
                <a:solidFill>
                  <a:srgbClr val="111827"/>
                </a:solidFill>
              </a:rPr>
              <a:t>→  Pedidos clickeables desde perfil admin (overlay de z-index)</a:t>
            </a:r>
          </a:p>
          <a:p>
            <a:pPr>
              <a:spcBef>
                <a:spcPts val="300"/>
              </a:spcBef>
            </a:pPr>
            <a:r>
              <a:rPr sz="900">
                <a:solidFill>
                  <a:srgbClr val="111827"/>
                </a:solidFill>
              </a:rPr>
              <a:t>→  Responsive desktop del depósito corregido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508760"/>
            <a:ext cx="5486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 b="1" i="0">
                <a:solidFill>
                  <a:srgbClr val="6B7280"/>
                </a:solidFill>
              </a:rPr>
              <a:t>NUEVAS FEATURES (CLIENTE)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1737360"/>
            <a:ext cx="54864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300"/>
              </a:spcBef>
            </a:pPr>
            <a:r>
              <a:rPr sz="900">
                <a:solidFill>
                  <a:srgbClr val="111827"/>
                </a:solidFill>
              </a:rPr>
              <a:t>→  Ubicaciones de stock — asignación masiva A-1 a F-6</a:t>
            </a:r>
          </a:p>
          <a:p>
            <a:pPr>
              <a:spcBef>
                <a:spcPts val="300"/>
              </a:spcBef>
            </a:pPr>
            <a:r>
              <a:rPr sz="900">
                <a:solidFill>
                  <a:srgbClr val="111827"/>
                </a:solidFill>
              </a:rPr>
              <a:t>→  Pedidos pendientes — alertas por días (verde/amarillo/rojo)</a:t>
            </a:r>
          </a:p>
          <a:p>
            <a:pPr>
              <a:spcBef>
                <a:spcPts val="300"/>
              </a:spcBef>
            </a:pPr>
            <a:r>
              <a:rPr sz="900">
                <a:solidFill>
                  <a:srgbClr val="111827"/>
                </a:solidFill>
              </a:rPr>
              <a:t>→  Estado 'segunda' — defectuosa recuperable, distinta a baja</a:t>
            </a:r>
          </a:p>
          <a:p>
            <a:pPr>
              <a:spcBef>
                <a:spcPts val="300"/>
              </a:spcBef>
            </a:pPr>
            <a:r>
              <a:rPr sz="900">
                <a:solidFill>
                  <a:srgbClr val="111827"/>
                </a:solidFill>
              </a:rPr>
              <a:t>→  Cálculo de merma — kg y % por rollo, panel en reportes</a:t>
            </a:r>
          </a:p>
          <a:p>
            <a:pPr>
              <a:spcBef>
                <a:spcPts val="300"/>
              </a:spcBef>
            </a:pPr>
            <a:r>
              <a:rPr sz="900">
                <a:solidFill>
                  <a:srgbClr val="111827"/>
                </a:solidFill>
              </a:rPr>
              <a:t>→  Stock mínimo con alertas — hook listo para email/WhatsApp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5303520"/>
            <a:ext cx="5577840" cy="731520"/>
          </a:xfrm>
          <a:prstGeom prst="rect">
            <a:avLst/>
          </a:prstGeom>
          <a:solidFill>
            <a:srgbClr val="F0FDF4"/>
          </a:solidFill>
          <a:ln w="12700">
            <a:solidFill>
              <a:srgbClr val="86EF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100"/>
              </a:spcBef>
            </a:pPr>
            <a:r>
              <a:rPr sz="900" b="1">
                <a:solidFill>
                  <a:srgbClr val="16A34A"/>
                </a:solidFill>
              </a:rPr>
              <a:t>RESULTADO</a:t>
            </a:r>
          </a:p>
          <a:p>
            <a:pPr>
              <a:spcBef>
                <a:spcPts val="100"/>
              </a:spcBef>
            </a:pPr>
            <a:r>
              <a:rPr sz="900" b="0">
                <a:solidFill>
                  <a:srgbClr val="111827"/>
                </a:solidFill>
              </a:rPr>
              <a:t>MVP estable y robusto, listo para piloto real con cliente pagante.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26480" y="5303520"/>
            <a:ext cx="5577840" cy="731520"/>
          </a:xfrm>
          <a:prstGeom prst="rect">
            <a:avLst/>
          </a:prstGeom>
          <a:solidFill>
            <a:srgbClr val="EFF6FF"/>
          </a:solidFill>
          <a:ln w="12700">
            <a:solidFill>
              <a:srgbClr val="93C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100"/>
              </a:spcBef>
            </a:pPr>
            <a:r>
              <a:rPr sz="900" b="1">
                <a:solidFill>
                  <a:srgbClr val="1D4ED8"/>
                </a:solidFill>
              </a:rPr>
              <a:t>APRENDIZAJE</a:t>
            </a:r>
          </a:p>
          <a:p>
            <a:pPr>
              <a:spcBef>
                <a:spcPts val="100"/>
              </a:spcBef>
            </a:pPr>
            <a:r>
              <a:rPr sz="900" b="0">
                <a:solidFill>
                  <a:srgbClr val="111827"/>
                </a:solidFill>
              </a:rPr>
              <a:t>El primer usuario real revela edge cases que ningún test de laboratorio anticipa. El feedback de Muter fue más valioso que cualquier hipótesis previa.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20040"/>
            <a:ext cx="2011680" cy="256032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</a:rPr>
              <a:t>PUNTO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89920" y="320040"/>
            <a:ext cx="1097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0" i="0">
                <a:solidFill>
                  <a:srgbClr val="6B7280"/>
                </a:solidFill>
              </a:rPr>
              <a:t>07 /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91440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 i="0">
                <a:solidFill>
                  <a:srgbClr val="FFFFFF"/>
                </a:solidFill>
              </a:rPr>
              <a:t>Pain Points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828800"/>
            <a:ext cx="91440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</a:rPr>
              <a:t>y Propuesta de Valor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83464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 i="0">
                <a:solidFill>
                  <a:srgbClr val="CCD5E0"/>
                </a:solidFill>
              </a:rPr>
              <a:t>Por qué StockApp resuelve algo que la competencia no cubre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3749039"/>
            <a:ext cx="2560320" cy="274320"/>
          </a:xfrm>
          <a:prstGeom prst="rect">
            <a:avLst/>
          </a:prstGeom>
          <a:solidFill>
            <a:srgbClr val="3A50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>
                <a:solidFill>
                  <a:srgbClr val="FFFFFF"/>
                </a:solidFill>
              </a:rPr>
              <a:t>12 empresas contactadas</a:t>
            </a:r>
          </a:p>
        </p:txBody>
      </p:sp>
      <p:sp>
        <p:nvSpPr>
          <p:cNvPr id="8" name="Rectangle 7"/>
          <p:cNvSpPr/>
          <p:nvPr/>
        </p:nvSpPr>
        <p:spPr>
          <a:xfrm>
            <a:off x="3108960" y="3749039"/>
            <a:ext cx="2560320" cy="274320"/>
          </a:xfrm>
          <a:prstGeom prst="rect">
            <a:avLst/>
          </a:prstGeom>
          <a:solidFill>
            <a:srgbClr val="3A50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>
                <a:solidFill>
                  <a:srgbClr val="FFFFFF"/>
                </a:solidFill>
              </a:rPr>
              <a:t>100% confirmaron el problema</a:t>
            </a:r>
          </a:p>
        </p:txBody>
      </p:sp>
      <p:sp>
        <p:nvSpPr>
          <p:cNvPr id="9" name="Rectangle 8"/>
          <p:cNvSpPr/>
          <p:nvPr/>
        </p:nvSpPr>
        <p:spPr>
          <a:xfrm>
            <a:off x="5760720" y="3749039"/>
            <a:ext cx="3291840" cy="27432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>
                <a:solidFill>
                  <a:srgbClr val="FFFFFF"/>
                </a:solidFill>
              </a:rPr>
              <a:t>0 soluciones verticales para este flujo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182880"/>
            <a:ext cx="2011680" cy="256032"/>
          </a:xfrm>
          <a:prstGeom prst="rect">
            <a:avLst/>
          </a:prstGeom>
          <a:solidFill>
            <a:srgbClr val="FFF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97316"/>
                </a:solidFill>
              </a:rPr>
              <a:t>PUNTO 2 — EL PROBLEMA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89920" y="182880"/>
            <a:ext cx="1097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0" i="0">
                <a:solidFill>
                  <a:srgbClr val="6B7280"/>
                </a:solidFill>
              </a:rPr>
              <a:t>08 /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10058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 i="0">
                <a:solidFill>
                  <a:srgbClr val="1E3A5F"/>
                </a:solidFill>
              </a:rPr>
              <a:t>El proceso hoy en una PyME textil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11247120" cy="685800"/>
          </a:xfrm>
          <a:prstGeom prst="rect">
            <a:avLst/>
          </a:prstGeom>
          <a:solidFill>
            <a:srgbClr val="FFF7ED"/>
          </a:solidFill>
          <a:ln w="1270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100"/>
              </a:spcBef>
            </a:pPr>
            <a:r>
              <a:rPr sz="1100" b="1">
                <a:solidFill>
                  <a:srgbClr val="1E3A5F"/>
                </a:solidFill>
              </a:rPr>
              <a:t>"Yo sé lo que compré. No sé lo que tengo."</a:t>
            </a:r>
          </a:p>
          <a:p>
            <a:pPr>
              <a:spcBef>
                <a:spcPts val="100"/>
              </a:spcBef>
            </a:pPr>
            <a:r>
              <a:rPr sz="1100" b="0">
                <a:solidFill>
                  <a:srgbClr val="6B7280"/>
                </a:solidFill>
              </a:rPr>
              <a:t>— Hernán, dueño de PyME textil entrevistada en validación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2103120"/>
            <a:ext cx="3749039" cy="1645920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100"/>
              </a:spcBef>
            </a:pPr>
            <a:r>
              <a:rPr sz="1000" b="1">
                <a:solidFill>
                  <a:srgbClr val="1E3A5F"/>
                </a:solidFill>
              </a:rPr>
              <a:t>📦  Stock invisible</a:t>
            </a:r>
          </a:p>
          <a:p>
            <a:pPr>
              <a:spcBef>
                <a:spcPts val="100"/>
              </a:spcBef>
            </a:pPr>
            <a:r>
              <a:rPr sz="1000" b="0">
                <a:solidFill>
                  <a:srgbClr val="6B7280"/>
                </a:solidFill>
              </a:rPr>
              <a:t>Excel desactualizado + WhatsApp con la tintorería. 'Cuántos rollos hay' depende de con quién hables y cuándo se actualizó la planilla.</a:t>
            </a:r>
          </a:p>
        </p:txBody>
      </p:sp>
      <p:sp>
        <p:nvSpPr>
          <p:cNvPr id="7" name="Rectangle 6"/>
          <p:cNvSpPr/>
          <p:nvPr/>
        </p:nvSpPr>
        <p:spPr>
          <a:xfrm>
            <a:off x="4279391" y="2103120"/>
            <a:ext cx="3749039" cy="1645920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100"/>
              </a:spcBef>
            </a:pPr>
            <a:r>
              <a:rPr sz="1000" b="1">
                <a:solidFill>
                  <a:srgbClr val="1E3A5F"/>
                </a:solidFill>
              </a:rPr>
              <a:t>⚠️  Merma sin control</a:t>
            </a:r>
          </a:p>
          <a:p>
            <a:pPr>
              <a:spcBef>
                <a:spcPts val="100"/>
              </a:spcBef>
            </a:pPr>
            <a:r>
              <a:rPr sz="1000" b="0">
                <a:solidFill>
                  <a:srgbClr val="6B7280"/>
                </a:solidFill>
              </a:rPr>
              <a:t>Cuánto se pierde en el teñido nadie lo sabe con exactitud. La diferencia entre kilos enviados y recibidos se anota a mano, si se anota.</a:t>
            </a:r>
          </a:p>
        </p:txBody>
      </p:sp>
      <p:sp>
        <p:nvSpPr>
          <p:cNvPr id="8" name="Rectangle 7"/>
          <p:cNvSpPr/>
          <p:nvPr/>
        </p:nvSpPr>
        <p:spPr>
          <a:xfrm>
            <a:off x="8193022" y="2103120"/>
            <a:ext cx="3749039" cy="1645920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100"/>
              </a:spcBef>
            </a:pPr>
            <a:r>
              <a:rPr sz="1000" b="1">
                <a:solidFill>
                  <a:srgbClr val="1E3A5F"/>
                </a:solidFill>
              </a:rPr>
              <a:t>🔄  Pedidos sin trazabilidad</a:t>
            </a:r>
          </a:p>
          <a:p>
            <a:pPr>
              <a:spcBef>
                <a:spcPts val="100"/>
              </a:spcBef>
            </a:pPr>
            <a:r>
              <a:rPr sz="1000" b="0">
                <a:solidFill>
                  <a:srgbClr val="6B7280"/>
                </a:solidFill>
              </a:rPr>
              <a:t>No hay reserva de stock. El mismo rollo puede quedar prometido a dos clientes. Los pedidos pendientes viven en un anotador o en la memoria.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5303520"/>
            <a:ext cx="11247120" cy="685800"/>
          </a:xfrm>
          <a:prstGeom prst="rect">
            <a:avLst/>
          </a:prstGeom>
          <a:solidFill>
            <a:srgbClr val="EFF6FF"/>
          </a:solidFill>
          <a:ln w="12700">
            <a:solidFill>
              <a:srgbClr val="93C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100"/>
              </a:spcBef>
            </a:pPr>
            <a:r>
              <a:rPr sz="900" b="1">
                <a:solidFill>
                  <a:srgbClr val="1D4ED8"/>
                </a:solidFill>
              </a:rPr>
              <a:t>COSTO OCULTO</a:t>
            </a:r>
          </a:p>
          <a:p>
            <a:pPr>
              <a:spcBef>
                <a:spcPts val="100"/>
              </a:spcBef>
            </a:pPr>
            <a:r>
              <a:rPr sz="900" b="0">
                <a:solidFill>
                  <a:srgbClr val="111827"/>
                </a:solidFill>
              </a:rPr>
              <a:t>Horas-persona de carga manual · errores de despacho · pérdidas por antigüedad de crudo · imposibilidad de responder pedidos urgentes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182880"/>
            <a:ext cx="2011680" cy="256032"/>
          </a:xfrm>
          <a:prstGeom prst="rect">
            <a:avLst/>
          </a:prstGeom>
          <a:solidFill>
            <a:srgbClr val="FFF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97316"/>
                </a:solidFill>
              </a:rPr>
              <a:t>PUNTO 2 — COMPETIDORES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89920" y="182880"/>
            <a:ext cx="1097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0" i="0">
                <a:solidFill>
                  <a:srgbClr val="6B7280"/>
                </a:solidFill>
              </a:rPr>
              <a:t>09 /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10058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 i="0">
                <a:solidFill>
                  <a:srgbClr val="1E3A5F"/>
                </a:solidFill>
              </a:rPr>
              <a:t>Lo que existe — y por qué no alcanza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51560"/>
            <a:ext cx="109728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</a:rPr>
              <a:t>Análisis de 15 soluciones. Ninguna cubre el flujo completo de un productor de tela con tintorería tercerizada.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463040"/>
            <a:ext cx="2011680" cy="384048"/>
          </a:xfrm>
          <a:prstGeom prst="rect">
            <a:avLst/>
          </a:prstGeom>
          <a:solidFill>
            <a:srgbClr val="1E3A5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850" b="1">
                <a:solidFill>
                  <a:srgbClr val="FFFFFF"/>
                </a:solidFill>
              </a:rPr>
              <a:t>Solución</a:t>
            </a:r>
          </a:p>
        </p:txBody>
      </p:sp>
      <p:sp>
        <p:nvSpPr>
          <p:cNvPr id="7" name="Rectangle 6"/>
          <p:cNvSpPr/>
          <p:nvPr/>
        </p:nvSpPr>
        <p:spPr>
          <a:xfrm>
            <a:off x="2468880" y="1463040"/>
            <a:ext cx="1645920" cy="384048"/>
          </a:xfrm>
          <a:prstGeom prst="rect">
            <a:avLst/>
          </a:prstGeom>
          <a:solidFill>
            <a:srgbClr val="1E3A5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50" b="1">
                <a:solidFill>
                  <a:srgbClr val="FFFFFF"/>
                </a:solidFill>
              </a:rPr>
              <a:t>Tipo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0" y="1463040"/>
            <a:ext cx="1463040" cy="384048"/>
          </a:xfrm>
          <a:prstGeom prst="rect">
            <a:avLst/>
          </a:prstGeom>
          <a:solidFill>
            <a:srgbClr val="1E3A5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50" b="1">
                <a:solidFill>
                  <a:srgbClr val="FFFFFF"/>
                </a:solidFill>
              </a:rPr>
              <a:t>Textil-espec.</a:t>
            </a:r>
          </a:p>
        </p:txBody>
      </p:sp>
      <p:sp>
        <p:nvSpPr>
          <p:cNvPr id="9" name="Rectangle 8"/>
          <p:cNvSpPr/>
          <p:nvPr/>
        </p:nvSpPr>
        <p:spPr>
          <a:xfrm>
            <a:off x="5577840" y="1463040"/>
            <a:ext cx="1005840" cy="384048"/>
          </a:xfrm>
          <a:prstGeom prst="rect">
            <a:avLst/>
          </a:prstGeom>
          <a:solidFill>
            <a:srgbClr val="1E3A5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50" b="1">
                <a:solidFill>
                  <a:srgbClr val="FFFFFF"/>
                </a:solidFill>
              </a:rPr>
              <a:t>QR nativo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0" y="1463040"/>
            <a:ext cx="1645920" cy="384048"/>
          </a:xfrm>
          <a:prstGeom prst="rect">
            <a:avLst/>
          </a:prstGeom>
          <a:solidFill>
            <a:srgbClr val="1E3A5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50" b="1">
                <a:solidFill>
                  <a:srgbClr val="FFFFFF"/>
                </a:solidFill>
              </a:rPr>
              <a:t>Lógica tintorería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0" y="1463040"/>
            <a:ext cx="1645920" cy="384048"/>
          </a:xfrm>
          <a:prstGeom prst="rect">
            <a:avLst/>
          </a:prstGeom>
          <a:solidFill>
            <a:srgbClr val="1E3A5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50" b="1">
                <a:solidFill>
                  <a:srgbClr val="FFFFFF"/>
                </a:solidFill>
              </a:rPr>
              <a:t>Precio/mes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1847088"/>
            <a:ext cx="201168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800" b="0">
                <a:solidFill>
                  <a:srgbClr val="111827"/>
                </a:solidFill>
              </a:rPr>
              <a:t>Excel / planillas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468880" y="1847088"/>
            <a:ext cx="164592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111827"/>
                </a:solidFill>
              </a:rPr>
              <a:t>Manual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14800" y="1847088"/>
            <a:ext cx="146304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DC2626"/>
                </a:solidFill>
              </a:rPr>
              <a:t>✗ No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577840" y="1847088"/>
            <a:ext cx="100584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DC2626"/>
                </a:solidFill>
              </a:rPr>
              <a:t>✗ No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583680" y="1847088"/>
            <a:ext cx="164592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DC2626"/>
                </a:solidFill>
              </a:rPr>
              <a:t>✗ No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29600" y="1847088"/>
            <a:ext cx="164592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111827"/>
                </a:solidFill>
              </a:rPr>
              <a:t>USD 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2231136"/>
            <a:ext cx="2011680" cy="384048"/>
          </a:xfrm>
          <a:prstGeom prst="rect">
            <a:avLst/>
          </a:prstGeom>
          <a:solidFill>
            <a:srgbClr val="F9FAFB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800" b="0">
                <a:solidFill>
                  <a:srgbClr val="111827"/>
                </a:solidFill>
              </a:rPr>
              <a:t>ERPs genéricos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468880" y="2231136"/>
            <a:ext cx="1645920" cy="384048"/>
          </a:xfrm>
          <a:prstGeom prst="rect">
            <a:avLst/>
          </a:prstGeom>
          <a:solidFill>
            <a:srgbClr val="F9FAFB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111827"/>
                </a:solidFill>
              </a:rPr>
              <a:t>ERP cloud · Arg.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114800" y="2231136"/>
            <a:ext cx="1463040" cy="384048"/>
          </a:xfrm>
          <a:prstGeom prst="rect">
            <a:avLst/>
          </a:prstGeom>
          <a:solidFill>
            <a:srgbClr val="F9FAFB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DC2626"/>
                </a:solidFill>
              </a:rPr>
              <a:t>✗ No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577840" y="2231136"/>
            <a:ext cx="1005840" cy="384048"/>
          </a:xfrm>
          <a:prstGeom prst="rect">
            <a:avLst/>
          </a:prstGeom>
          <a:solidFill>
            <a:srgbClr val="F9FAFB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DC2626"/>
                </a:solidFill>
              </a:rPr>
              <a:t>✗ No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583680" y="2231136"/>
            <a:ext cx="1645920" cy="384048"/>
          </a:xfrm>
          <a:prstGeom prst="rect">
            <a:avLst/>
          </a:prstGeom>
          <a:solidFill>
            <a:srgbClr val="F9FAFB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DC2626"/>
                </a:solidFill>
              </a:rPr>
              <a:t>✗ No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229600" y="2231136"/>
            <a:ext cx="1645920" cy="384048"/>
          </a:xfrm>
          <a:prstGeom prst="rect">
            <a:avLst/>
          </a:prstGeom>
          <a:solidFill>
            <a:srgbClr val="F9FAFB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111827"/>
                </a:solidFill>
              </a:rPr>
              <a:t>USD 15–185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2615184"/>
            <a:ext cx="201168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800" b="0">
                <a:solidFill>
                  <a:srgbClr val="111827"/>
                </a:solidFill>
              </a:rPr>
              <a:t>Dragonfish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468880" y="2615184"/>
            <a:ext cx="164592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111827"/>
                </a:solidFill>
              </a:rPr>
              <a:t>ERP retail textil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114800" y="2615184"/>
            <a:ext cx="146304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CA8A04"/>
                </a:solidFill>
              </a:rPr>
              <a:t>~ Retail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577840" y="2615184"/>
            <a:ext cx="100584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CA8A04"/>
                </a:solidFill>
              </a:rPr>
              <a:t>~ Add-on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583680" y="2615184"/>
            <a:ext cx="164592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DC2626"/>
                </a:solidFill>
              </a:rPr>
              <a:t>✗ No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229600" y="2615184"/>
            <a:ext cx="164592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111827"/>
                </a:solidFill>
              </a:rPr>
              <a:t>Desde USD 16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2999232"/>
            <a:ext cx="2011680" cy="384048"/>
          </a:xfrm>
          <a:prstGeom prst="rect">
            <a:avLst/>
          </a:prstGeom>
          <a:solidFill>
            <a:srgbClr val="F9FAFB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800" b="0">
                <a:solidFill>
                  <a:srgbClr val="111827"/>
                </a:solidFill>
              </a:rPr>
              <a:t>Flexxus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468880" y="2999232"/>
            <a:ext cx="1645920" cy="384048"/>
          </a:xfrm>
          <a:prstGeom prst="rect">
            <a:avLst/>
          </a:prstGeom>
          <a:solidFill>
            <a:srgbClr val="F9FAFB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111827"/>
                </a:solidFill>
              </a:rPr>
              <a:t>ERP multi-vertical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114800" y="2999232"/>
            <a:ext cx="1463040" cy="384048"/>
          </a:xfrm>
          <a:prstGeom prst="rect">
            <a:avLst/>
          </a:prstGeom>
          <a:solidFill>
            <a:srgbClr val="F9FAFB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CA8A04"/>
                </a:solidFill>
              </a:rPr>
              <a:t>~ Confección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577840" y="2999232"/>
            <a:ext cx="1005840" cy="384048"/>
          </a:xfrm>
          <a:prstGeom prst="rect">
            <a:avLst/>
          </a:prstGeom>
          <a:solidFill>
            <a:srgbClr val="F9FAFB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CA8A04"/>
                </a:solidFill>
              </a:rPr>
              <a:t>~ Add-on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583680" y="2999232"/>
            <a:ext cx="1645920" cy="384048"/>
          </a:xfrm>
          <a:prstGeom prst="rect">
            <a:avLst/>
          </a:prstGeom>
          <a:solidFill>
            <a:srgbClr val="F9FAFB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DC2626"/>
                </a:solidFill>
              </a:rPr>
              <a:t>✗ No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229600" y="2999232"/>
            <a:ext cx="1645920" cy="384048"/>
          </a:xfrm>
          <a:prstGeom prst="rect">
            <a:avLst/>
          </a:prstGeom>
          <a:solidFill>
            <a:srgbClr val="F9FAFB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111827"/>
                </a:solidFill>
              </a:rPr>
              <a:t>USD 250–1.000+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57200" y="3383280"/>
            <a:ext cx="201168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800" b="0">
                <a:solidFill>
                  <a:srgbClr val="111827"/>
                </a:solidFill>
              </a:rPr>
              <a:t>Tango Gestión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468880" y="3383280"/>
            <a:ext cx="164592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111827"/>
                </a:solidFill>
              </a:rPr>
              <a:t>ERP mediana emp.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114800" y="3383280"/>
            <a:ext cx="146304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CA8A04"/>
                </a:solidFill>
              </a:rPr>
              <a:t>~ Configurable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577840" y="3383280"/>
            <a:ext cx="100584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CA8A04"/>
                </a:solidFill>
              </a:rPr>
              <a:t>~ Add-on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583680" y="3383280"/>
            <a:ext cx="164592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CA8A04"/>
                </a:solidFill>
              </a:rPr>
              <a:t>~ Dev. a medida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229600" y="3383280"/>
            <a:ext cx="164592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111827"/>
                </a:solidFill>
              </a:rPr>
              <a:t>USD 400+ (+partner)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57200" y="3767328"/>
            <a:ext cx="2011680" cy="384048"/>
          </a:xfrm>
          <a:prstGeom prst="rect">
            <a:avLst/>
          </a:prstGeom>
          <a:solidFill>
            <a:srgbClr val="F9FAFB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800" b="0">
                <a:solidFill>
                  <a:srgbClr val="111827"/>
                </a:solidFill>
              </a:rPr>
              <a:t>PULPO WMS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468880" y="3767328"/>
            <a:ext cx="1645920" cy="384048"/>
          </a:xfrm>
          <a:prstGeom prst="rect">
            <a:avLst/>
          </a:prstGeom>
          <a:solidFill>
            <a:srgbClr val="F9FAFB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111827"/>
                </a:solidFill>
              </a:rPr>
              <a:t>WMS cloud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114800" y="3767328"/>
            <a:ext cx="1463040" cy="384048"/>
          </a:xfrm>
          <a:prstGeom prst="rect">
            <a:avLst/>
          </a:prstGeom>
          <a:solidFill>
            <a:srgbClr val="F9FAFB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DC2626"/>
                </a:solidFill>
              </a:rPr>
              <a:t>✗ No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577840" y="3767328"/>
            <a:ext cx="1005840" cy="384048"/>
          </a:xfrm>
          <a:prstGeom prst="rect">
            <a:avLst/>
          </a:prstGeom>
          <a:solidFill>
            <a:srgbClr val="F9FAFB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16A34A"/>
                </a:solidFill>
              </a:rPr>
              <a:t>✓ Sí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583680" y="3767328"/>
            <a:ext cx="1645920" cy="384048"/>
          </a:xfrm>
          <a:prstGeom prst="rect">
            <a:avLst/>
          </a:prstGeom>
          <a:solidFill>
            <a:srgbClr val="F9FAFB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DC2626"/>
                </a:solidFill>
              </a:rPr>
              <a:t>✗ No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229600" y="3767328"/>
            <a:ext cx="1645920" cy="384048"/>
          </a:xfrm>
          <a:prstGeom prst="rect">
            <a:avLst/>
          </a:prstGeom>
          <a:solidFill>
            <a:srgbClr val="F9FAFB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111827"/>
                </a:solidFill>
              </a:rPr>
              <a:t>USD 49–1.200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57200" y="4151376"/>
            <a:ext cx="2011680" cy="384048"/>
          </a:xfrm>
          <a:prstGeom prst="rect">
            <a:avLst/>
          </a:prstGeom>
          <a:solidFill>
            <a:srgbClr val="FFF7ED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800" b="1">
                <a:solidFill>
                  <a:srgbClr val="1E3A5F"/>
                </a:solidFill>
              </a:rPr>
              <a:t>StockApp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468880" y="4151376"/>
            <a:ext cx="1645920" cy="384048"/>
          </a:xfrm>
          <a:prstGeom prst="rect">
            <a:avLst/>
          </a:prstGeom>
          <a:solidFill>
            <a:srgbClr val="FFF7ED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1E3A5F"/>
                </a:solidFill>
              </a:rPr>
              <a:t>Vertical PyME textil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114800" y="4151376"/>
            <a:ext cx="1463040" cy="384048"/>
          </a:xfrm>
          <a:prstGeom prst="rect">
            <a:avLst/>
          </a:prstGeom>
          <a:solidFill>
            <a:srgbClr val="FFF7ED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1E3A5F"/>
                </a:solidFill>
              </a:rPr>
              <a:t>✓ Rollo+tintorería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577840" y="4151376"/>
            <a:ext cx="1005840" cy="384048"/>
          </a:xfrm>
          <a:prstGeom prst="rect">
            <a:avLst/>
          </a:prstGeom>
          <a:solidFill>
            <a:srgbClr val="FFF7ED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1E3A5F"/>
                </a:solidFill>
              </a:rPr>
              <a:t>✓ Nativo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583680" y="4151376"/>
            <a:ext cx="1645920" cy="384048"/>
          </a:xfrm>
          <a:prstGeom prst="rect">
            <a:avLst/>
          </a:prstGeom>
          <a:solidFill>
            <a:srgbClr val="FFF7ED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1E3A5F"/>
                </a:solidFill>
              </a:rPr>
              <a:t>✓ Primera clase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229600" y="4151376"/>
            <a:ext cx="1645920" cy="384048"/>
          </a:xfrm>
          <a:prstGeom prst="rect">
            <a:avLst/>
          </a:prstGeom>
          <a:solidFill>
            <a:srgbClr val="FFF7ED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1E3A5F"/>
                </a:solidFill>
              </a:rPr>
              <a:t>~ USD 210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57200" y="6446520"/>
            <a:ext cx="10972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 i="0">
                <a:solidFill>
                  <a:srgbClr val="6B7280"/>
                </a:solidFill>
              </a:rPr>
              <a:t>Fuente: Análisis de competidores StockApp, abril 2026. Precios USD al tipo de cambio referencial.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182880"/>
            <a:ext cx="2011680" cy="256032"/>
          </a:xfrm>
          <a:prstGeom prst="rect">
            <a:avLst/>
          </a:prstGeom>
          <a:solidFill>
            <a:srgbClr val="FFF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97316"/>
                </a:solidFill>
              </a:rPr>
              <a:t>PUNTO 2 — PROPUESTA DE VALOR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89920" y="182880"/>
            <a:ext cx="1097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0" i="0">
                <a:solidFill>
                  <a:srgbClr val="6B7280"/>
                </a:solidFill>
              </a:rPr>
              <a:t>10 /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10058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 i="0">
                <a:solidFill>
                  <a:srgbClr val="1E3A5F"/>
                </a:solidFill>
              </a:rPr>
              <a:t>Por qué StockApp resuelve algo real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51560"/>
            <a:ext cx="10058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</a:rPr>
              <a:t>5 piezas críticas que ningún competidor cubre simultáneamente.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463040"/>
            <a:ext cx="5760720" cy="658368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100"/>
              </a:spcBef>
            </a:pPr>
            <a:r>
              <a:rPr sz="900" b="1">
                <a:solidFill>
                  <a:srgbClr val="1E3A5F"/>
                </a:solidFill>
              </a:rPr>
              <a:t>🧠  IA entrenada por tintorería</a:t>
            </a:r>
          </a:p>
          <a:p>
            <a:pPr>
              <a:spcBef>
                <a:spcPts val="100"/>
              </a:spcBef>
            </a:pPr>
            <a:r>
              <a:rPr sz="900" b="0">
                <a:solidFill>
                  <a:srgbClr val="6B7280"/>
                </a:solidFill>
              </a:rPr>
              <a:t>No extracción genérica. Cada proveedor tiene su prompt optimizado.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2194560"/>
            <a:ext cx="5760720" cy="658368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100"/>
              </a:spcBef>
            </a:pPr>
            <a:r>
              <a:rPr sz="900" b="1">
                <a:solidFill>
                  <a:srgbClr val="1E3A5F"/>
                </a:solidFill>
              </a:rPr>
              <a:t>📱  Mobile-first sin fricción</a:t>
            </a:r>
          </a:p>
          <a:p>
            <a:pPr>
              <a:spcBef>
                <a:spcPts val="100"/>
              </a:spcBef>
            </a:pPr>
            <a:r>
              <a:rPr sz="900" b="0">
                <a:solidFill>
                  <a:srgbClr val="6B7280"/>
                </a:solidFill>
              </a:rPr>
              <a:t>El operario usa su celular. Sin hardware extra, sin capacitación de semanas.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2926080"/>
            <a:ext cx="5760720" cy="658368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100"/>
              </a:spcBef>
            </a:pPr>
            <a:r>
              <a:rPr sz="900" b="1">
                <a:solidFill>
                  <a:srgbClr val="1E3A5F"/>
                </a:solidFill>
              </a:rPr>
              <a:t>🔐  Multi-tenant desde el diseño</a:t>
            </a:r>
          </a:p>
          <a:p>
            <a:pPr>
              <a:spcBef>
                <a:spcPts val="100"/>
              </a:spcBef>
            </a:pPr>
            <a:r>
              <a:rPr sz="900" b="0">
                <a:solidFill>
                  <a:srgbClr val="6B7280"/>
                </a:solidFill>
              </a:rPr>
              <a:t>Dato de un cliente nunca visible para otro (RLS por empresa_id).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3657600"/>
            <a:ext cx="5760720" cy="658368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100"/>
              </a:spcBef>
            </a:pPr>
            <a:r>
              <a:rPr sz="900" b="1">
                <a:solidFill>
                  <a:srgbClr val="1E3A5F"/>
                </a:solidFill>
              </a:rPr>
              <a:t>📍  Ubicaciones físicas reales</a:t>
            </a:r>
          </a:p>
          <a:p>
            <a:pPr>
              <a:spcBef>
                <a:spcPts val="100"/>
              </a:spcBef>
            </a:pPr>
            <a:r>
              <a:rPr sz="900" b="0">
                <a:solidFill>
                  <a:srgbClr val="6B7280"/>
                </a:solidFill>
              </a:rPr>
              <a:t>El sistema conoce el layout y guía el picking por ubicación.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4389120"/>
            <a:ext cx="5760720" cy="658368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100"/>
              </a:spcBef>
            </a:pPr>
            <a:r>
              <a:rPr sz="900" b="1">
                <a:solidFill>
                  <a:srgbClr val="1E3A5F"/>
                </a:solidFill>
              </a:rPr>
              <a:t>⚡  Implementación sin consultor</a:t>
            </a:r>
          </a:p>
          <a:p>
            <a:pPr>
              <a:spcBef>
                <a:spcPts val="100"/>
              </a:spcBef>
            </a:pPr>
            <a:r>
              <a:rPr sz="900" b="0">
                <a:solidFill>
                  <a:srgbClr val="6B7280"/>
                </a:solidFill>
              </a:rPr>
              <a:t>Tango cobra USD 150–1.500 solo para instalar. Acá es semana 1.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1417320"/>
            <a:ext cx="51206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 b="1" i="0">
                <a:solidFill>
                  <a:srgbClr val="6B7280"/>
                </a:solidFill>
              </a:rPr>
              <a:t>ARQUITECTURA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583680" y="1691640"/>
            <a:ext cx="5120640" cy="685800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100"/>
              </a:spcBef>
            </a:pPr>
            <a:r>
              <a:rPr sz="900" b="1">
                <a:solidFill>
                  <a:srgbClr val="1E3A5F"/>
                </a:solidFill>
              </a:rPr>
              <a:t>📱  Browser / PWA</a:t>
            </a:r>
          </a:p>
          <a:p>
            <a:pPr>
              <a:spcBef>
                <a:spcPts val="100"/>
              </a:spcBef>
            </a:pPr>
            <a:r>
              <a:rPr sz="900" b="0">
                <a:solidFill>
                  <a:srgbClr val="6B7280"/>
                </a:solidFill>
              </a:rPr>
              <a:t>Mobile · Desktop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0" y="2423160"/>
            <a:ext cx="5120640" cy="685800"/>
          </a:xfrm>
          <a:prstGeom prst="rect">
            <a:avLst/>
          </a:prstGeom>
          <a:solidFill>
            <a:srgbClr val="FFF7ED"/>
          </a:solidFill>
          <a:ln w="1270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100"/>
              </a:spcBef>
            </a:pPr>
            <a:r>
              <a:rPr sz="900" b="1">
                <a:solidFill>
                  <a:srgbClr val="1E3A5F"/>
                </a:solidFill>
              </a:rPr>
              <a:t>⚡  Next.js 16</a:t>
            </a:r>
          </a:p>
          <a:p>
            <a:pPr>
              <a:spcBef>
                <a:spcPts val="100"/>
              </a:spcBef>
            </a:pPr>
            <a:r>
              <a:rPr sz="900" b="0">
                <a:solidFill>
                  <a:srgbClr val="6B7280"/>
                </a:solidFill>
              </a:rPr>
              <a:t>Vercel · São Paulo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583680" y="3154680"/>
            <a:ext cx="5120640" cy="685800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100"/>
              </a:spcBef>
            </a:pPr>
            <a:r>
              <a:rPr sz="900" b="1">
                <a:solidFill>
                  <a:srgbClr val="1E3A5F"/>
                </a:solidFill>
              </a:rPr>
              <a:t>🗄️  Supabase PostgreSQL</a:t>
            </a:r>
          </a:p>
          <a:p>
            <a:pPr>
              <a:spcBef>
                <a:spcPts val="100"/>
              </a:spcBef>
            </a:pPr>
            <a:r>
              <a:rPr sz="900" b="0">
                <a:solidFill>
                  <a:srgbClr val="6B7280"/>
                </a:solidFill>
              </a:rPr>
              <a:t>RLS · Auth · Realtime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83680" y="3886200"/>
            <a:ext cx="5120640" cy="685800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100"/>
              </a:spcBef>
            </a:pPr>
            <a:r>
              <a:rPr sz="900" b="1">
                <a:solidFill>
                  <a:srgbClr val="1E3A5F"/>
                </a:solidFill>
              </a:rPr>
              <a:t>🧠  Gemini 2.5 Flash</a:t>
            </a:r>
          </a:p>
          <a:p>
            <a:pPr>
              <a:spcBef>
                <a:spcPts val="100"/>
              </a:spcBef>
            </a:pPr>
            <a:r>
              <a:rPr sz="900" b="0">
                <a:solidFill>
                  <a:srgbClr val="6B7280"/>
                </a:solidFill>
              </a:rPr>
              <a:t>Google AI Studio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4663440"/>
            <a:ext cx="5120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0" i="0">
                <a:solidFill>
                  <a:srgbClr val="6B7280"/>
                </a:solidFill>
              </a:rPr>
              <a:t>$0/mes de infraestructura en fase piloto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20040"/>
            <a:ext cx="2011680" cy="256032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</a:rPr>
              <a:t>PUNTO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89920" y="320040"/>
            <a:ext cx="1097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0" i="0">
                <a:solidFill>
                  <a:srgbClr val="6B7280"/>
                </a:solidFill>
              </a:rPr>
              <a:t>11 /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914400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5200" b="1" i="0">
                <a:solidFill>
                  <a:srgbClr val="FFFFFF"/>
                </a:solidFill>
              </a:rPr>
              <a:t>Go to Market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65176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 i="0">
                <a:solidFill>
                  <a:srgbClr val="CCD5E0"/>
                </a:solidFill>
              </a:rPr>
              <a:t>Estrategia 100% orgánica con cliente piloto activo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3749039"/>
            <a:ext cx="2560320" cy="274320"/>
          </a:xfrm>
          <a:prstGeom prst="rect">
            <a:avLst/>
          </a:prstGeom>
          <a:solidFill>
            <a:srgbClr val="3A50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>
                <a:solidFill>
                  <a:srgbClr val="FFFFFF"/>
                </a:solidFill>
              </a:rPr>
              <a:t>Equipo de 4 fundadores</a:t>
            </a:r>
          </a:p>
        </p:txBody>
      </p:sp>
      <p:sp>
        <p:nvSpPr>
          <p:cNvPr id="7" name="Rectangle 6"/>
          <p:cNvSpPr/>
          <p:nvPr/>
        </p:nvSpPr>
        <p:spPr>
          <a:xfrm>
            <a:off x="3108960" y="3749039"/>
            <a:ext cx="2560320" cy="274320"/>
          </a:xfrm>
          <a:prstGeom prst="rect">
            <a:avLst/>
          </a:prstGeom>
          <a:solidFill>
            <a:srgbClr val="3A50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>
                <a:solidFill>
                  <a:srgbClr val="FFFFFF"/>
                </a:solidFill>
              </a:rPr>
              <a:t>Sin presupuesto de marketing</a:t>
            </a:r>
          </a:p>
        </p:txBody>
      </p:sp>
      <p:sp>
        <p:nvSpPr>
          <p:cNvPr id="8" name="Rectangle 7"/>
          <p:cNvSpPr/>
          <p:nvPr/>
        </p:nvSpPr>
        <p:spPr>
          <a:xfrm>
            <a:off x="5760720" y="3749039"/>
            <a:ext cx="2560320" cy="274320"/>
          </a:xfrm>
          <a:prstGeom prst="rect">
            <a:avLst/>
          </a:prstGeom>
          <a:solidFill>
            <a:srgbClr val="3A50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>
                <a:solidFill>
                  <a:srgbClr val="FFFFFF"/>
                </a:solidFill>
              </a:rPr>
              <a:t>63 empresas en pipeline</a:t>
            </a:r>
          </a:p>
        </p:txBody>
      </p:sp>
      <p:sp>
        <p:nvSpPr>
          <p:cNvPr id="9" name="Rectangle 8"/>
          <p:cNvSpPr/>
          <p:nvPr/>
        </p:nvSpPr>
        <p:spPr>
          <a:xfrm>
            <a:off x="8412480" y="3749039"/>
            <a:ext cx="2743200" cy="27432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>
                <a:solidFill>
                  <a:srgbClr val="FFFFFF"/>
                </a:solidFill>
              </a:rPr>
              <a:t>Muter Textil como prueba viva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182880"/>
            <a:ext cx="2011680" cy="256032"/>
          </a:xfrm>
          <a:prstGeom prst="rect">
            <a:avLst/>
          </a:prstGeom>
          <a:solidFill>
            <a:srgbClr val="FFF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97316"/>
                </a:solidFill>
              </a:rPr>
              <a:t>PUNTO 3 — CLIENTE IDEAL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89920" y="182880"/>
            <a:ext cx="1097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0" i="0">
                <a:solidFill>
                  <a:srgbClr val="6B7280"/>
                </a:solidFill>
              </a:rPr>
              <a:t>12 /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10058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 i="0">
                <a:solidFill>
                  <a:srgbClr val="1E3A5F"/>
                </a:solidFill>
              </a:rPr>
              <a:t>Foco angosto: el cliente ideal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51560"/>
            <a:ext cx="10058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</a:rPr>
              <a:t>Tres condiciones que tienen que darse juntas. Capturar bien este segmento antes de ampliar.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463040"/>
            <a:ext cx="3749039" cy="1554480"/>
          </a:xfrm>
          <a:prstGeom prst="rect">
            <a:avLst/>
          </a:prstGeom>
          <a:solidFill>
            <a:srgbClr val="FFF7ED"/>
          </a:solidFill>
          <a:ln w="1270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100"/>
              </a:spcBef>
            </a:pPr>
            <a:r>
              <a:rPr sz="1000" b="1">
                <a:solidFill>
                  <a:srgbClr val="1E3A5F"/>
                </a:solidFill>
              </a:rPr>
              <a:t>🏭  1. Terceriza el teñido</a:t>
            </a:r>
          </a:p>
          <a:p>
            <a:pPr>
              <a:spcBef>
                <a:spcPts val="100"/>
              </a:spcBef>
            </a:pPr>
            <a:r>
              <a:rPr sz="1000" b="0">
                <a:solidFill>
                  <a:srgbClr val="6B7280"/>
                </a:solidFill>
              </a:rPr>
              <a:t>Envía tela cruda a tintorería externa y la recibe terminada. Es el flujo donde se pierde la trazabilidad y donde StockApp aporta valor.</a:t>
            </a:r>
          </a:p>
        </p:txBody>
      </p:sp>
      <p:sp>
        <p:nvSpPr>
          <p:cNvPr id="7" name="Rectangle 6"/>
          <p:cNvSpPr/>
          <p:nvPr/>
        </p:nvSpPr>
        <p:spPr>
          <a:xfrm>
            <a:off x="4279391" y="1463040"/>
            <a:ext cx="3749039" cy="1554480"/>
          </a:xfrm>
          <a:prstGeom prst="rect">
            <a:avLst/>
          </a:prstGeom>
          <a:solidFill>
            <a:srgbClr val="FFF7ED"/>
          </a:solidFill>
          <a:ln w="1270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100"/>
              </a:spcBef>
            </a:pPr>
            <a:r>
              <a:rPr sz="1000" b="1">
                <a:solidFill>
                  <a:srgbClr val="1E3A5F"/>
                </a:solidFill>
              </a:rPr>
              <a:t>📏  2. Tamaño mediano</a:t>
            </a:r>
          </a:p>
          <a:p>
            <a:pPr>
              <a:spcBef>
                <a:spcPts val="100"/>
              </a:spcBef>
            </a:pPr>
            <a:r>
              <a:rPr sz="1000" b="0">
                <a:solidFill>
                  <a:srgbClr val="6B7280"/>
                </a:solidFill>
              </a:rPr>
              <a:t>De 5 a 50 empleados. Volumen de stock que justifica el sistema. Más chicas se arreglan con una planilla; más grandes ya tienen un ERP.</a:t>
            </a:r>
          </a:p>
        </p:txBody>
      </p:sp>
      <p:sp>
        <p:nvSpPr>
          <p:cNvPr id="8" name="Rectangle 7"/>
          <p:cNvSpPr/>
          <p:nvPr/>
        </p:nvSpPr>
        <p:spPr>
          <a:xfrm>
            <a:off x="8193022" y="1463040"/>
            <a:ext cx="3749039" cy="1554480"/>
          </a:xfrm>
          <a:prstGeom prst="rect">
            <a:avLst/>
          </a:prstGeom>
          <a:solidFill>
            <a:srgbClr val="FFF7ED"/>
          </a:solidFill>
          <a:ln w="1270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100"/>
              </a:spcBef>
            </a:pPr>
            <a:r>
              <a:rPr sz="1000" b="1">
                <a:solidFill>
                  <a:srgbClr val="1E3A5F"/>
                </a:solidFill>
              </a:rPr>
              <a:t>📋  3. No tiene sistema</a:t>
            </a:r>
          </a:p>
          <a:p>
            <a:pPr>
              <a:spcBef>
                <a:spcPts val="100"/>
              </a:spcBef>
            </a:pPr>
            <a:r>
              <a:rPr sz="1000" b="0">
                <a:solidFill>
                  <a:srgbClr val="6B7280"/>
                </a:solidFill>
              </a:rPr>
              <a:t>Gestiona con Excel, libreta o memoria. No hay que desplazar a un competidor: reemplazar una solución manual que no funciona.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3200400"/>
            <a:ext cx="11247120" cy="685800"/>
          </a:xfrm>
          <a:prstGeom prst="rect">
            <a:avLst/>
          </a:prstGeom>
          <a:solidFill>
            <a:srgbClr val="FFF7ED"/>
          </a:solidFill>
          <a:ln w="1270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100"/>
              </a:spcBef>
            </a:pPr>
            <a:r>
              <a:rPr sz="1100" b="1">
                <a:solidFill>
                  <a:srgbClr val="1E3A5F"/>
                </a:solidFill>
              </a:rPr>
              <a:t>"El producto es para gente que no produce sus telas, que terceriza todo."</a:t>
            </a:r>
          </a:p>
          <a:p>
            <a:pPr>
              <a:spcBef>
                <a:spcPts val="100"/>
              </a:spcBef>
            </a:pPr>
            <a:r>
              <a:rPr sz="1100" b="0">
                <a:solidFill>
                  <a:srgbClr val="6B7280"/>
                </a:solidFill>
              </a:rPr>
              <a:t>— Dalmiro, dueño de Muter Textil (cliente piloto)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06908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</a:rPr>
              <a:t>Fuera del foco: empresas grandes con ERP propio · empresas con tintorería propia · confeccionistas puras (no manejan rollos de tela).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182880"/>
            <a:ext cx="2011680" cy="256032"/>
          </a:xfrm>
          <a:prstGeom prst="rect">
            <a:avLst/>
          </a:prstGeom>
          <a:solidFill>
            <a:srgbClr val="FFF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97316"/>
                </a:solidFill>
              </a:rPr>
              <a:t>PUNTO 3 — VISIBILIDAD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89920" y="182880"/>
            <a:ext cx="1097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0" i="0">
                <a:solidFill>
                  <a:srgbClr val="6B7280"/>
                </a:solidFill>
              </a:rPr>
              <a:t>13 /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10058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 i="0">
                <a:solidFill>
                  <a:srgbClr val="1E3A5F"/>
                </a:solidFill>
              </a:rPr>
              <a:t>Estrategia de visibilidad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5156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</a:rPr>
              <a:t>Presupuesto cero. Construir presencia en un segmento chico para que cuando un dueño tenga el problema, StockApp sea su primera opción.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463040"/>
            <a:ext cx="11247120" cy="685800"/>
          </a:xfrm>
          <a:prstGeom prst="rect">
            <a:avLst/>
          </a:prstGeom>
          <a:solidFill>
            <a:srgbClr val="FFF7ED"/>
          </a:solidFill>
          <a:ln w="1270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100"/>
              </a:spcBef>
            </a:pPr>
            <a:r>
              <a:rPr sz="1000" b="1">
                <a:solidFill>
                  <a:srgbClr val="1E3A5F"/>
                </a:solidFill>
              </a:rPr>
              <a:t>"StockApp te dice qué tela tenés, en cualquier momento, sin que dependas de la memoria del jefe de depósito."</a:t>
            </a:r>
          </a:p>
          <a:p>
            <a:pPr>
              <a:spcBef>
                <a:spcPts val="100"/>
              </a:spcBef>
            </a:pPr>
            <a:r>
              <a:rPr sz="1000" b="0">
                <a:solidFill>
                  <a:srgbClr val="6B7280"/>
                </a:solidFill>
              </a:rPr>
              <a:t>— Mensaje de marca: lenguaje del cliente, no del producto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331720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 b="1" i="0">
                <a:solidFill>
                  <a:srgbClr val="6B7280"/>
                </a:solidFill>
              </a:rPr>
              <a:t>4 CANALES — SE ELIGEN POR DÓNDE ESTÁ EL COMPRADOR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2651760"/>
            <a:ext cx="2743200" cy="1463040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100"/>
              </a:spcBef>
            </a:pPr>
            <a:r>
              <a:rPr sz="900" b="1">
                <a:solidFill>
                  <a:srgbClr val="1E3A5F"/>
                </a:solidFill>
              </a:rPr>
              <a:t>🎯  Prospección directa</a:t>
            </a:r>
          </a:p>
          <a:p>
            <a:pPr>
              <a:spcBef>
                <a:spcPts val="100"/>
              </a:spcBef>
            </a:pPr>
            <a:r>
              <a:rPr sz="900" b="0">
                <a:solidFill>
                  <a:srgbClr val="6B7280"/>
                </a:solidFill>
              </a:rPr>
              <a:t>Canal principal hoy. 63 empresas ya contactadas + red personal + egresados ITBA. Mensaje personalizado, nunca masivo.</a:t>
            </a:r>
          </a:p>
        </p:txBody>
      </p:sp>
      <p:sp>
        <p:nvSpPr>
          <p:cNvPr id="9" name="Rectangle 8"/>
          <p:cNvSpPr/>
          <p:nvPr/>
        </p:nvSpPr>
        <p:spPr>
          <a:xfrm>
            <a:off x="3255264" y="2651760"/>
            <a:ext cx="2743200" cy="1463040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100"/>
              </a:spcBef>
            </a:pPr>
            <a:r>
              <a:rPr sz="900" b="1">
                <a:solidFill>
                  <a:srgbClr val="1E3A5F"/>
                </a:solidFill>
              </a:rPr>
              <a:t>💼  LinkedIn orgánico</a:t>
            </a:r>
          </a:p>
          <a:p>
            <a:pPr>
              <a:spcBef>
                <a:spcPts val="100"/>
              </a:spcBef>
            </a:pPr>
            <a:r>
              <a:rPr sz="900" b="0">
                <a:solidFill>
                  <a:srgbClr val="6B7280"/>
                </a:solidFill>
              </a:rPr>
              <a:t>Cuentas personales de los 4 fundadores. No vende el producto: construye autoridad mostrando que entendemos el rubro.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44768" y="2651760"/>
            <a:ext cx="2743200" cy="1463040"/>
          </a:xfrm>
          <a:prstGeom prst="rect">
            <a:avLst/>
          </a:prstGeom>
          <a:solidFill>
            <a:srgbClr val="FFF7ED"/>
          </a:solidFill>
          <a:ln w="1270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100"/>
              </a:spcBef>
            </a:pPr>
            <a:r>
              <a:rPr sz="900" b="1">
                <a:solidFill>
                  <a:srgbClr val="1E3A5F"/>
                </a:solidFill>
              </a:rPr>
              <a:t>🤝  Referidos del ecosistema</a:t>
            </a:r>
          </a:p>
          <a:p>
            <a:pPr>
              <a:spcBef>
                <a:spcPts val="100"/>
              </a:spcBef>
            </a:pPr>
            <a:r>
              <a:rPr sz="900" b="0">
                <a:solidFill>
                  <a:srgbClr val="6B7280"/>
                </a:solidFill>
              </a:rPr>
              <a:t>Dalmiro ya se comprometió a pasar contactos de otras fábricas. Convierten a tasa mucho más alta que un contacto frío.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034272" y="2651760"/>
            <a:ext cx="2743200" cy="1463040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100"/>
              </a:spcBef>
            </a:pPr>
            <a:r>
              <a:rPr sz="900" b="1">
                <a:solidFill>
                  <a:srgbClr val="1E3A5F"/>
                </a:solidFill>
              </a:rPr>
              <a:t>📍  Eventos del rubro</a:t>
            </a:r>
          </a:p>
          <a:p>
            <a:pPr>
              <a:spcBef>
                <a:spcPts val="100"/>
              </a:spcBef>
            </a:pPr>
            <a:r>
              <a:rPr sz="900" b="0">
                <a:solidFill>
                  <a:srgbClr val="6B7280"/>
                </a:solidFill>
              </a:rPr>
              <a:t>Emitex, Pro Tejer, APYMEL. Asistencia como visitantes (stand fuera de presupuesto). Mapear empresas + generar contenido.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5303520"/>
            <a:ext cx="11247120" cy="685800"/>
          </a:xfrm>
          <a:prstGeom prst="rect">
            <a:avLst/>
          </a:prstGeom>
          <a:solidFill>
            <a:srgbClr val="EFF6FF"/>
          </a:solidFill>
          <a:ln w="12700">
            <a:solidFill>
              <a:srgbClr val="93C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100"/>
              </a:spcBef>
            </a:pPr>
            <a:r>
              <a:rPr sz="900" b="1">
                <a:solidFill>
                  <a:srgbClr val="1D4ED8"/>
                </a:solidFill>
              </a:rPr>
              <a:t>ACTIVO DE MARKETING #1: EL CASO MUTER</a:t>
            </a:r>
          </a:p>
          <a:p>
            <a:pPr>
              <a:spcBef>
                <a:spcPts val="100"/>
              </a:spcBef>
            </a:pPr>
            <a:r>
              <a:rPr sz="900" b="0">
                <a:solidFill>
                  <a:srgbClr val="111827"/>
                </a:solidFill>
              </a:rPr>
              <a:t>Permiso de uso del nombre · documentación del piloto (fotos, números, testimonio) · referencia activa de Dalmiro a prospectos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182880"/>
            <a:ext cx="2011680" cy="256032"/>
          </a:xfrm>
          <a:prstGeom prst="rect">
            <a:avLst/>
          </a:prstGeom>
          <a:solidFill>
            <a:srgbClr val="FFF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97316"/>
                </a:solidFill>
              </a:rPr>
              <a:t>PUNTO 3 — VENTAS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89920" y="182880"/>
            <a:ext cx="1097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0" i="0">
                <a:solidFill>
                  <a:srgbClr val="6B7280"/>
                </a:solidFill>
              </a:rPr>
              <a:t>14 /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10058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 i="0">
                <a:solidFill>
                  <a:srgbClr val="1E3A5F"/>
                </a:solidFill>
              </a:rPr>
              <a:t>Proceso de venta y pricing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5156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</a:rPr>
              <a:t>El integrante que abre el contacto lleva el deal de punta a punta. La demo con datos reales del cliente es la pieza central.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463040"/>
            <a:ext cx="2743200" cy="1280160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100"/>
              </a:spcBef>
            </a:pPr>
            <a:r>
              <a:rPr sz="900" b="1">
                <a:solidFill>
                  <a:srgbClr val="1E3A5F"/>
                </a:solidFill>
              </a:rPr>
              <a:t>Calificación</a:t>
            </a:r>
          </a:p>
          <a:p>
            <a:pPr>
              <a:spcBef>
                <a:spcPts val="100"/>
              </a:spcBef>
            </a:pPr>
            <a:r>
              <a:rPr sz="900" b="0">
                <a:solidFill>
                  <a:srgbClr val="6B7280"/>
                </a:solidFill>
              </a:rPr>
              <a:t>Charla de 30 min. Confirmar perfil ideal: terceriza teñido, decide, le entra el precio, tiene horizonte.</a:t>
            </a:r>
          </a:p>
        </p:txBody>
      </p:sp>
      <p:sp>
        <p:nvSpPr>
          <p:cNvPr id="7" name="Rectangle 6"/>
          <p:cNvSpPr/>
          <p:nvPr/>
        </p:nvSpPr>
        <p:spPr>
          <a:xfrm>
            <a:off x="256032" y="1353312"/>
            <a:ext cx="320040" cy="32004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8" name="Rectangle 7"/>
          <p:cNvSpPr/>
          <p:nvPr/>
        </p:nvSpPr>
        <p:spPr>
          <a:xfrm>
            <a:off x="3255264" y="1463040"/>
            <a:ext cx="2743200" cy="1280160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100"/>
              </a:spcBef>
            </a:pPr>
            <a:r>
              <a:rPr sz="900" b="1">
                <a:solidFill>
                  <a:srgbClr val="1E3A5F"/>
                </a:solidFill>
              </a:rPr>
              <a:t>Demo con datos reales</a:t>
            </a:r>
          </a:p>
          <a:p>
            <a:pPr>
              <a:spcBef>
                <a:spcPts val="100"/>
              </a:spcBef>
            </a:pPr>
            <a:r>
              <a:rPr sz="900" b="0">
                <a:solidFill>
                  <a:srgbClr val="6B7280"/>
                </a:solidFill>
              </a:rPr>
              <a:t>MVP funcionando con la planilla y artículos del cliente. Ve su propio depósito en pantalla, no un demo genérico.</a:t>
            </a:r>
          </a:p>
        </p:txBody>
      </p:sp>
      <p:sp>
        <p:nvSpPr>
          <p:cNvPr id="9" name="Rectangle 8"/>
          <p:cNvSpPr/>
          <p:nvPr/>
        </p:nvSpPr>
        <p:spPr>
          <a:xfrm>
            <a:off x="3145536" y="1353312"/>
            <a:ext cx="320040" cy="32004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44768" y="1463040"/>
            <a:ext cx="2743200" cy="1280160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100"/>
              </a:spcBef>
            </a:pPr>
            <a:r>
              <a:rPr sz="900" b="1">
                <a:solidFill>
                  <a:srgbClr val="1E3A5F"/>
                </a:solidFill>
              </a:rPr>
              <a:t>Prueba en planta</a:t>
            </a:r>
          </a:p>
          <a:p>
            <a:pPr>
              <a:spcBef>
                <a:spcPts val="100"/>
              </a:spcBef>
            </a:pPr>
            <a:r>
              <a:rPr sz="900" b="0">
                <a:solidFill>
                  <a:srgbClr val="6B7280"/>
                </a:solidFill>
              </a:rPr>
              <a:t>Cada rol prueba el sistema en planta con acompañamiento. Momento decisivo para la adopción.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35040" y="1353312"/>
            <a:ext cx="320040" cy="32004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034272" y="1463040"/>
            <a:ext cx="2743200" cy="1280160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100"/>
              </a:spcBef>
            </a:pPr>
            <a:r>
              <a:rPr sz="900" b="1">
                <a:solidFill>
                  <a:srgbClr val="1E3A5F"/>
                </a:solidFill>
              </a:rPr>
              <a:t>Propuesta y cierre</a:t>
            </a:r>
          </a:p>
          <a:p>
            <a:pPr>
              <a:spcBef>
                <a:spcPts val="100"/>
              </a:spcBef>
            </a:pPr>
            <a:r>
              <a:rPr sz="900" b="0">
                <a:solidFill>
                  <a:srgbClr val="6B7280"/>
                </a:solidFill>
              </a:rPr>
              <a:t>Propuesta escrita + reunión de cierre. Regla del equipo: no salir sin un próximo paso concreto acordado.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924544" y="1353312"/>
            <a:ext cx="320040" cy="32004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2926080"/>
            <a:ext cx="5577840" cy="1554480"/>
          </a:xfrm>
          <a:prstGeom prst="rect">
            <a:avLst/>
          </a:prstGeom>
          <a:solidFill>
            <a:srgbClr val="FFF7ED"/>
          </a:solidFill>
          <a:ln w="1270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100"/>
              </a:spcBef>
            </a:pPr>
            <a:r>
              <a:rPr sz="900" b="1">
                <a:solidFill>
                  <a:srgbClr val="1E3A5F"/>
                </a:solidFill>
              </a:rPr>
              <a:t>💵  Pricing — abono mensual</a:t>
            </a:r>
          </a:p>
          <a:p>
            <a:pPr>
              <a:spcBef>
                <a:spcPts val="100"/>
              </a:spcBef>
            </a:pPr>
            <a:r>
              <a:rPr sz="900" b="0">
                <a:solidFill>
                  <a:srgbClr val="111827"/>
                </a:solidFill>
              </a:rPr>
              <a:t>~ USD 210/mes de referencia. Validado por Dalmiro: una empresa de su tamaño lo pagaría sin problema si le resuelve el problema.</a:t>
            </a:r>
          </a:p>
          <a:p>
            <a:pPr>
              <a:spcBef>
                <a:spcPts val="100"/>
              </a:spcBef>
            </a:pPr>
            <a:r>
              <a:rPr sz="900" b="0">
                <a:solidFill>
                  <a:srgbClr val="6B7280"/>
                </a:solidFill>
              </a:rPr>
              <a:t>Modelo recomendado por el propio cliente: mejoras continuas + sostenibilidad del negocio.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17920" y="2926080"/>
            <a:ext cx="5577840" cy="1554480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100"/>
              </a:spcBef>
            </a:pPr>
            <a:r>
              <a:rPr sz="900" b="1">
                <a:solidFill>
                  <a:srgbClr val="1E3A5F"/>
                </a:solidFill>
              </a:rPr>
              <a:t>🧩  A futuro: módulos por separado</a:t>
            </a:r>
          </a:p>
          <a:p>
            <a:pPr>
              <a:spcBef>
                <a:spcPts val="100"/>
              </a:spcBef>
            </a:pPr>
            <a:r>
              <a:rPr sz="900" b="0">
                <a:solidFill>
                  <a:srgbClr val="111827"/>
                </a:solidFill>
              </a:rPr>
              <a:t>Estadísticas de merma · integración con facturación · alertas avanzadas. Cada cliente arma el sistema según lo que necesita.</a:t>
            </a:r>
          </a:p>
          <a:p>
            <a:pPr>
              <a:spcBef>
                <a:spcPts val="100"/>
              </a:spcBef>
            </a:pPr>
            <a:r>
              <a:rPr sz="900" b="0">
                <a:solidFill>
                  <a:srgbClr val="1E3A5F"/>
                </a:solidFill>
              </a:rPr>
              <a:t>Demo y prueba en planta sin cargo.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182880"/>
            <a:ext cx="2011680" cy="256032"/>
          </a:xfrm>
          <a:prstGeom prst="rect">
            <a:avLst/>
          </a:prstGeom>
          <a:solidFill>
            <a:srgbClr val="FFF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97316"/>
                </a:solidFill>
              </a:rPr>
              <a:t>PUNTO 3 — IMPLEMENTACIÓN · ESTADO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89920" y="182880"/>
            <a:ext cx="1097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0" i="0">
                <a:solidFill>
                  <a:srgbClr val="6B7280"/>
                </a:solidFill>
              </a:rPr>
              <a:t>15 /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10058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 i="0">
                <a:solidFill>
                  <a:srgbClr val="1E3A5F"/>
                </a:solidFill>
              </a:rPr>
              <a:t>Implementación intensiva y presencial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5156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</a:rPr>
              <a:t>La adopción —en especial la del operario— es el principal riesgo. Por eso onboarding en planta, no remoto.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463040"/>
            <a:ext cx="3749039" cy="1371600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100"/>
              </a:spcBef>
            </a:pPr>
            <a:r>
              <a:rPr sz="900" b="1">
                <a:solidFill>
                  <a:srgbClr val="1E3A5F"/>
                </a:solidFill>
              </a:rPr>
              <a:t>⚙️  Semana 1 — Configuración</a:t>
            </a:r>
          </a:p>
          <a:p>
            <a:pPr>
              <a:spcBef>
                <a:spcPts val="100"/>
              </a:spcBef>
            </a:pPr>
            <a:r>
              <a:rPr sz="900" b="0">
                <a:solidFill>
                  <a:srgbClr val="6B7280"/>
                </a:solidFill>
              </a:rPr>
              <a:t>Alta del cliente, carga de catálogos, generación de QR para el stock existente, capacitación en planta a cada rol.</a:t>
            </a:r>
          </a:p>
        </p:txBody>
      </p:sp>
      <p:sp>
        <p:nvSpPr>
          <p:cNvPr id="7" name="Rectangle 6"/>
          <p:cNvSpPr/>
          <p:nvPr/>
        </p:nvSpPr>
        <p:spPr>
          <a:xfrm>
            <a:off x="4279391" y="1463040"/>
            <a:ext cx="3749039" cy="1371600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100"/>
              </a:spcBef>
            </a:pPr>
            <a:r>
              <a:rPr sz="900" b="1">
                <a:solidFill>
                  <a:srgbClr val="1E3A5F"/>
                </a:solidFill>
              </a:rPr>
              <a:t>🔄  Semanas 2–4 — Paralelo</a:t>
            </a:r>
          </a:p>
          <a:p>
            <a:pPr>
              <a:spcBef>
                <a:spcPts val="100"/>
              </a:spcBef>
            </a:pPr>
            <a:r>
              <a:rPr sz="900" b="0">
                <a:solidFill>
                  <a:srgbClr val="6B7280"/>
                </a:solidFill>
              </a:rPr>
              <a:t>StockApp + Excel como respaldo. Equipo en planta varias veces por semana para detectar y resolver fricciones en el momento.</a:t>
            </a:r>
          </a:p>
        </p:txBody>
      </p:sp>
      <p:sp>
        <p:nvSpPr>
          <p:cNvPr id="8" name="Rectangle 7"/>
          <p:cNvSpPr/>
          <p:nvPr/>
        </p:nvSpPr>
        <p:spPr>
          <a:xfrm>
            <a:off x="8193022" y="1463040"/>
            <a:ext cx="3749039" cy="1371600"/>
          </a:xfrm>
          <a:prstGeom prst="rect">
            <a:avLst/>
          </a:prstGeom>
          <a:solidFill>
            <a:srgbClr val="FFF7ED"/>
          </a:solidFill>
          <a:ln w="1270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100"/>
              </a:spcBef>
            </a:pPr>
            <a:r>
              <a:rPr sz="900" b="1">
                <a:solidFill>
                  <a:srgbClr val="1E3A5F"/>
                </a:solidFill>
              </a:rPr>
              <a:t>✅  Semana 5+ — Autónoma</a:t>
            </a:r>
          </a:p>
          <a:p>
            <a:pPr>
              <a:spcBef>
                <a:spcPts val="100"/>
              </a:spcBef>
            </a:pPr>
            <a:r>
              <a:rPr sz="900" b="0">
                <a:solidFill>
                  <a:srgbClr val="6B7280"/>
                </a:solidFill>
              </a:rPr>
              <a:t>StockApp como única fuente de verdad. Soporte por WhatsApp/mail. Cada feedback alimenta el roadmap del producto.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3108960"/>
            <a:ext cx="55778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 b="1" i="0">
                <a:solidFill>
                  <a:srgbClr val="6B7280"/>
                </a:solidFill>
              </a:rPr>
              <a:t>ESTADO ACTUAL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3337560"/>
            <a:ext cx="557784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300"/>
              </a:spcBef>
            </a:pPr>
            <a:r>
              <a:rPr sz="900">
                <a:solidFill>
                  <a:srgbClr val="111827"/>
                </a:solidFill>
              </a:rPr>
              <a:t>→  Muter Textil — demo realizada, prueba en planta agendada</a:t>
            </a:r>
          </a:p>
          <a:p>
            <a:pPr>
              <a:spcBef>
                <a:spcPts val="300"/>
              </a:spcBef>
            </a:pPr>
            <a:r>
              <a:rPr sz="900">
                <a:solidFill>
                  <a:srgbClr val="111827"/>
                </a:solidFill>
              </a:rPr>
              <a:t>→  Pipeline — prospección directa activa con 63 empresas validadas</a:t>
            </a:r>
          </a:p>
          <a:p>
            <a:pPr>
              <a:spcBef>
                <a:spcPts val="300"/>
              </a:spcBef>
            </a:pPr>
            <a:r>
              <a:rPr sz="900">
                <a:solidFill>
                  <a:srgbClr val="111827"/>
                </a:solidFill>
              </a:rPr>
              <a:t>→  Mensaje de marca — definido y consistente en todos los canales</a:t>
            </a:r>
          </a:p>
          <a:p>
            <a:pPr>
              <a:spcBef>
                <a:spcPts val="300"/>
              </a:spcBef>
            </a:pPr>
            <a:r>
              <a:rPr sz="900">
                <a:solidFill>
                  <a:srgbClr val="111827"/>
                </a:solidFill>
              </a:rPr>
              <a:t>→  Próximos pasos — contenido LinkedIn + documentación caso Muter + Emitex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3108960"/>
            <a:ext cx="5486400" cy="1920240"/>
          </a:xfrm>
          <a:prstGeom prst="rect">
            <a:avLst/>
          </a:prstGeom>
          <a:solidFill>
            <a:srgbClr val="F0FDF4"/>
          </a:solidFill>
          <a:ln w="12700">
            <a:solidFill>
              <a:srgbClr val="86EF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100"/>
              </a:spcBef>
            </a:pPr>
            <a:r>
              <a:rPr sz="1000" b="1">
                <a:solidFill>
                  <a:srgbClr val="16A34A"/>
                </a:solidFill>
              </a:rPr>
              <a:t>PRÓXIMAS SEMANAS</a:t>
            </a:r>
          </a:p>
          <a:p>
            <a:pPr>
              <a:spcBef>
                <a:spcPts val="100"/>
              </a:spcBef>
            </a:pPr>
            <a:r>
              <a:rPr sz="1000" b="0">
                <a:solidFill>
                  <a:srgbClr val="111827"/>
                </a:solidFill>
              </a:rPr>
              <a:t>La prueba real del proceso completo, de la demo al onboarding. Cada problema que aparezca en Muter alimenta el roadmap y se convierte en material de marketing del próximo cliente.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